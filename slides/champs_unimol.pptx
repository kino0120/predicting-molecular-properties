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e408382d-ce64-c040-1469-e2fe88c21526}">
          <p14:sldIdLst>
            <p14:sldId id="256"/>
            <p14:sldId id="257"/>
            <p14:sldId id="258"/>
            <p14:sldId id="259"/>
          </p14:sldIdLst>
        </p14:section>
        <p14:section name="調査と方針" id="{f153d261-5e72-5e24-911f-95add4067c1b}">
          <p14:sldIdLst>
            <p14:sldId id="260"/>
            <p14:sldId id="261"/>
            <p14:sldId id="262"/>
          </p14:sldIdLst>
        </p14:section>
        <p14:section name="EDA" id="{c66856d0-76df-560e-4058-c2ffb15c9d80}">
          <p14:sldIdLst>
            <p14:sldId id="263"/>
            <p14:sldId id="264"/>
          </p14:sldIdLst>
        </p14:section>
        <p14:section name="Uni-Mol" id="{40de75a1-0a99-376a-7bb2-798b6050c21b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結果" id="{ee4e8589-6f9c-e14b-a0e7-3cda3ad8bd56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1JHC の中央値 [Hz]（train 先頭 15 万件）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1JHC の中央値 [Hz]</c:v>
                </c:pt>
              </c:strCache>
            </c:strRef>
          </c:tx>
          <c:spPr>
            <a:solidFill>
              <a:srgbClr val="1F7A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単結合だけ (sp3)</c:v>
                  </c:pt>
                  <c:pt idx="1">
                    <c:v>二重結合 (sp2)</c:v>
                  </c:pt>
                  <c:pt idx="2">
                    <c:v>三重結合 (sp)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87.4</c:v>
                </c:pt>
                <c:pt idx="1">
                  <c:v>128.9</c:v>
                </c:pt>
                <c:pt idx="2">
                  <c:v>196.6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モデルなし（グループごとの中央値で予測）の score　※低いほど良い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E883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83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7A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B9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DB9B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DB9B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DB9B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＋距離</c:v>
                  </c:pt>
                  <c:pt idx="1">
                    <c:v>経路サブタイプ＋角度・二面角</c:v>
                  </c:pt>
                  <c:pt idx="2">
                    <c:v>角度・二面角</c:v>
                  </c:pt>
                  <c:pt idx="3">
                    <c:v>距離</c:v>
                  </c:pt>
                  <c:pt idx="4">
                    <c:v>経路サブタイプ</c:v>
                  </c:pt>
                  <c:pt idx="5">
                    <c:v>type のみ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0.277</c:v>
                </c:pt>
                <c:pt idx="1">
                  <c:v>0.416</c:v>
                </c:pt>
                <c:pt idx="2">
                  <c:v>0.714</c:v>
                </c:pt>
                <c:pt idx="3">
                  <c:v>0.788</c:v>
                </c:pt>
                <c:pt idx="4">
                  <c:v>0.962</c:v>
                </c:pt>
                <c:pt idx="5">
                  <c:v>1.186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絶対値で見た fc の割合 [%]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</c:v>
                </c:pt>
              </c:strCache>
            </c:strRef>
          </c:tx>
          <c:spPr>
            <a:solidFill>
              <a:srgbClr val="E8833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1JHC</c:v>
                  </c:pt>
                  <c:pt idx="1">
                    <c:v>1JHN</c:v>
                  </c:pt>
                  <c:pt idx="2">
                    <c:v>3JHC</c:v>
                  </c:pt>
                  <c:pt idx="3">
                    <c:v>2JHN</c:v>
                  </c:pt>
                  <c:pt idx="4">
                    <c:v>2JHC</c:v>
                  </c:pt>
                  <c:pt idx="5">
                    <c:v>3JHN</c:v>
                  </c:pt>
                  <c:pt idx="6">
                    <c:v>3JHH</c:v>
                  </c:pt>
                  <c:pt idx="7">
                    <c:v>2JHH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98</c:v>
                </c:pt>
                <c:pt idx="1">
                  <c:v>96</c:v>
                </c:pt>
                <c:pt idx="2">
                  <c:v>83</c:v>
                </c:pt>
                <c:pt idx="3">
                  <c:v>81</c:v>
                </c:pt>
                <c:pt idx="4">
                  <c:v>78</c:v>
                </c:pt>
                <c:pt idx="5">
                  <c:v>75</c:v>
                </c:pt>
                <c:pt idx="6">
                  <c:v>68</c:v>
                </c:pt>
                <c:pt idx="7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sd + pso + dso</c:v>
                </c:pt>
              </c:strCache>
            </c:strRef>
          </c:tx>
          <c:spPr>
            <a:solidFill>
              <a:srgbClr val="9DB9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1JHC</c:v>
                  </c:pt>
                  <c:pt idx="1">
                    <c:v>1JHN</c:v>
                  </c:pt>
                  <c:pt idx="2">
                    <c:v>3JHC</c:v>
                  </c:pt>
                  <c:pt idx="3">
                    <c:v>2JHN</c:v>
                  </c:pt>
                  <c:pt idx="4">
                    <c:v>2JHC</c:v>
                  </c:pt>
                  <c:pt idx="5">
                    <c:v>3JHN</c:v>
                  </c:pt>
                  <c:pt idx="6">
                    <c:v>3JHH</c:v>
                  </c:pt>
                  <c:pt idx="7">
                    <c:v>2JHH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4</c:v>
                </c:pt>
                <c:pt idx="2">
                  <c:v>17</c:v>
                </c:pt>
                <c:pt idx="3">
                  <c:v>19</c:v>
                </c:pt>
                <c:pt idx="4">
                  <c:v>22</c:v>
                </c:pt>
                <c:pt idx="5">
                  <c:v>25</c:v>
                </c:pt>
                <c:pt idx="6">
                  <c:v>32</c:v>
                </c:pt>
                <c:pt idx="7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9525" cap="flat">
              <a:solidFill>
                <a:srgbClr val="EAF2F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学習率の倍率（学習の進み）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学習率の倍率</c:v>
                </c:pt>
              </c:strCache>
            </c:strRef>
          </c:tx>
          <c:spPr>
            <a:solidFill>
              <a:srgbClr val="1F7A78"/>
            </a:solidFill>
            <a:ln w="31750" cap="flat">
              <a:solidFill>
                <a:srgbClr val="1F7A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7A78"/>
              </a:solidFill>
              <a:ln w="9525" cap="flat">
                <a:solidFill>
                  <a:srgbClr val="1F7A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Sheet1!$A$2:$A$102</c:f>
              <c:multiLvlStrCache>
                <c:ptCount val="101"/>
                <c:lvl>
                  <c:pt idx="0">
                    <c:v>0%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25%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>50%</c:v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>75%</c:v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>100%</c:v>
                  </c:pt>
                </c:lvl>
              </c:multiLvlStrCache>
            </c:multiLvlStrRef>
          </c:cat>
          <c:val>
            <c:numRef>
              <c:f>Sheet1!$B$2:$B$102</c:f>
              <c:numCache>
                <c:formatCode>General</c:formatCode>
                <c:ptCount val="101"/>
                <c:pt idx="0">
                  <c:v>0</c:v>
                </c:pt>
                <c:pt idx="1">
                  <c:v>0.3333333333333333</c:v>
                </c:pt>
                <c:pt idx="2">
                  <c:v>0.6666666666666666</c:v>
                </c:pt>
                <c:pt idx="3">
                  <c:v>1</c:v>
                </c:pt>
                <c:pt idx="4">
                  <c:v>0.9997377845227575</c:v>
                </c:pt>
                <c:pt idx="5">
                  <c:v>0.9989514131188558</c:v>
                </c:pt>
                <c:pt idx="6">
                  <c:v>0.997641710583307</c:v>
                </c:pt>
                <c:pt idx="7">
                  <c:v>0.9958100506132126</c:v>
                </c:pt>
                <c:pt idx="8">
                  <c:v>0.9934583543669453</c:v>
                </c:pt>
                <c:pt idx="9">
                  <c:v>0.9905890884491195</c:v>
                </c:pt>
                <c:pt idx="10">
                  <c:v>0.9872052623234631</c:v>
                </c:pt>
                <c:pt idx="11">
                  <c:v>0.9833104251563056</c:v>
                </c:pt>
                <c:pt idx="12">
                  <c:v>0.9789086620939935</c:v>
                </c:pt>
                <c:pt idx="13">
                  <c:v>0.9740045899781352</c:v>
                </c:pt>
                <c:pt idx="14">
                  <c:v>0.9686033525031719</c:v>
                </c:pt>
                <c:pt idx="15">
                  <c:v>0.9627106148213521</c:v>
                </c:pt>
                <c:pt idx="16">
                  <c:v>0.9563325576007701</c:v>
                </c:pt>
                <c:pt idx="17">
                  <c:v>0.9494758705426977</c:v>
                </c:pt>
                <c:pt idx="18">
                  <c:v>0.9421477453650118</c:v>
                </c:pt>
                <c:pt idx="19">
                  <c:v>0.9343558682590756</c:v>
                </c:pt>
                <c:pt idx="20">
                  <c:v>0.9261084118279846</c:v>
                </c:pt>
                <c:pt idx="21">
                  <c:v>0.9174140265146355</c:v>
                </c:pt>
                <c:pt idx="22">
                  <c:v>0.9082818315286054</c:v>
                </c:pt>
                <c:pt idx="23">
                  <c:v>0.8987214052813604</c:v>
                </c:pt>
                <c:pt idx="24">
                  <c:v>0.8887427753398247</c:v>
                </c:pt>
                <c:pt idx="25">
                  <c:v>0.8783564079088476</c:v>
                </c:pt>
                <c:pt idx="26">
                  <c:v>0.8675731968536002</c:v>
                </c:pt>
                <c:pt idx="27">
                  <c:v>0.8564044522734147</c:v>
                </c:pt>
                <c:pt idx="28">
                  <c:v>0.8448618886390521</c:v>
                </c:pt>
                <c:pt idx="29">
                  <c:v>0.8329576125058404</c:v>
                </c:pt>
                <c:pt idx="30">
                  <c:v>0.8207041098155701</c:v>
                </c:pt>
                <c:pt idx="31">
                  <c:v>0.8081142328004636</c:v>
                </c:pt>
                <c:pt idx="32">
                  <c:v>0.7952011865029613</c:v>
                </c:pt>
                <c:pt idx="33">
                  <c:v>0.7819785149254532</c:v>
                </c:pt>
                <c:pt idx="34">
                  <c:v>0.768460086824492</c:v>
                </c:pt>
                <c:pt idx="35">
                  <c:v>0.7546600811643815</c:v>
                </c:pt>
                <c:pt idx="36">
                  <c:v>0.7405929722454025</c:v>
                </c:pt>
                <c:pt idx="37">
                  <c:v>0.7262735145222694</c:v>
                </c:pt>
                <c:pt idx="38">
                  <c:v>0.7117167271287452</c:v>
                </c:pt>
                <c:pt idx="39">
                  <c:v>0.6969378781246436</c:v>
                </c:pt>
                <c:pt idx="40">
                  <c:v>0.6819524684817437</c:v>
                </c:pt>
                <c:pt idx="41">
                  <c:v>0.6667762158254104</c:v>
                </c:pt>
                <c:pt idx="42">
                  <c:v>0.6514250379489754</c:v>
                </c:pt>
                <c:pt idx="43">
                  <c:v>0.6359150361181715</c:v>
                </c:pt>
                <c:pt idx="44">
                  <c:v>0.6202624781831269</c:v>
                </c:pt>
                <c:pt idx="45">
                  <c:v>0.6044837815156375</c:v>
                </c:pt>
                <c:pt idx="46">
                  <c:v>0.5885954957896115</c:v>
                </c:pt>
                <c:pt idx="47">
                  <c:v>0.5726142856227452</c:v>
                </c:pt>
                <c:pt idx="48">
                  <c:v>0.5565569130976422</c:v>
                </c:pt>
                <c:pt idx="49">
                  <c:v>0.5404402201807021</c:v>
                </c:pt>
                <c:pt idx="50">
                  <c:v>0.5242811110572241</c:v>
                </c:pt>
                <c:pt idx="51">
                  <c:v>0.5080965344012508</c:v>
                </c:pt>
                <c:pt idx="52">
                  <c:v>0.49190346559874937</c:v>
                </c:pt>
                <c:pt idx="53">
                  <c:v>0.4757188889427759</c:v>
                </c:pt>
                <c:pt idx="54">
                  <c:v>0.45955977981929796</c:v>
                </c:pt>
                <c:pt idx="55">
                  <c:v>0.4434430869023578</c:v>
                </c:pt>
                <c:pt idx="56">
                  <c:v>0.42738571437725487</c:v>
                </c:pt>
                <c:pt idx="57">
                  <c:v>0.41140450421038877</c:v>
                </c:pt>
                <c:pt idx="58">
                  <c:v>0.39551621848436247</c:v>
                </c:pt>
                <c:pt idx="59">
                  <c:v>0.3797375218168732</c:v>
                </c:pt>
                <c:pt idx="60">
                  <c:v>0.36408496388182865</c:v>
                </c:pt>
                <c:pt idx="61">
                  <c:v>0.3485749620510246</c:v>
                </c:pt>
                <c:pt idx="62">
                  <c:v>0.3332237841745898</c:v>
                </c:pt>
                <c:pt idx="63">
                  <c:v>0.3180475315182564</c:v>
                </c:pt>
                <c:pt idx="64">
                  <c:v>0.3030621218753564</c:v>
                </c:pt>
                <c:pt idx="65">
                  <c:v>0.2882832728712549</c:v>
                </c:pt>
                <c:pt idx="66">
                  <c:v>0.2737264854777306</c:v>
                </c:pt>
                <c:pt idx="67">
                  <c:v>0.25940702775459745</c:v>
                </c:pt>
                <c:pt idx="68">
                  <c:v>0.24533991883561868</c:v>
                </c:pt>
                <c:pt idx="69">
                  <c:v>0.2315399131755081</c:v>
                </c:pt>
                <c:pt idx="70">
                  <c:v>0.21802148507454672</c:v>
                </c:pt>
                <c:pt idx="71">
                  <c:v>0.20479881349703866</c:v>
                </c:pt>
                <c:pt idx="72">
                  <c:v>0.19188576719953632</c:v>
                </c:pt>
                <c:pt idx="73">
                  <c:v>0.17929589018443015</c:v>
                </c:pt>
                <c:pt idx="74">
                  <c:v>0.1670423874941594</c:v>
                </c:pt>
                <c:pt idx="75">
                  <c:v>0.15513811136094785</c:v>
                </c:pt>
                <c:pt idx="76">
                  <c:v>0.14359554772658545</c:v>
                </c:pt>
                <c:pt idx="77">
                  <c:v>0.13242680314639976</c:v>
                </c:pt>
                <c:pt idx="78">
                  <c:v>0.1216435920911525</c:v>
                </c:pt>
                <c:pt idx="79">
                  <c:v>0.1112572246601754</c:v>
                </c:pt>
                <c:pt idx="80">
                  <c:v>0.1012785947186397</c:v>
                </c:pt>
                <c:pt idx="81">
                  <c:v>0.09171816847139463</c:v>
                </c:pt>
                <c:pt idx="82">
                  <c:v>0.08258597348536434</c:v>
                </c:pt>
                <c:pt idx="83">
                  <c:v>0.07389158817201541</c:v>
                </c:pt>
                <c:pt idx="84">
                  <c:v>0.06564413174092454</c:v>
                </c:pt>
                <c:pt idx="85">
                  <c:v>0.057852254634988276</c:v>
                </c:pt>
                <c:pt idx="86">
                  <c:v>0.05052412945730228</c:v>
                </c:pt>
                <c:pt idx="87">
                  <c:v>0.04366744239922987</c:v>
                </c:pt>
                <c:pt idx="88">
                  <c:v>0.03728938517864794</c:v>
                </c:pt>
                <c:pt idx="89">
                  <c:v>0.031396647496828245</c:v>
                </c:pt>
                <c:pt idx="90">
                  <c:v>0.025995410021864784</c:v>
                </c:pt>
                <c:pt idx="91">
                  <c:v>0.02109133790600648</c:v>
                </c:pt>
                <c:pt idx="92">
                  <c:v>0.016689574843694377</c:v>
                </c:pt>
                <c:pt idx="93">
                  <c:v>0.012794737676536994</c:v>
                </c:pt>
                <c:pt idx="94">
                  <c:v>0.009410911550880474</c:v>
                </c:pt>
                <c:pt idx="95">
                  <c:v>0.006541645633054649</c:v>
                </c:pt>
                <c:pt idx="96">
                  <c:v>0.0041899493867874615</c:v>
                </c:pt>
                <c:pt idx="97">
                  <c:v>0.0023582894166929713</c:v>
                </c:pt>
                <c:pt idx="98">
                  <c:v>0.0010485868811441756</c:v>
                </c:pt>
                <c:pt idx="99">
                  <c:v>0.00026221547724253336</c:v>
                </c:pt>
                <c:pt idx="10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AF2F1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検証 score の推移（エポックごと、低いほど良い）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基本の設定</c:v>
                </c:pt>
              </c:strCache>
            </c:strRef>
          </c:tx>
          <c:spPr>
            <a:solidFill>
              <a:srgbClr val="E8833A"/>
            </a:solidFill>
            <a:ln w="31750" cap="flat">
              <a:solidFill>
                <a:srgbClr val="E883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833A"/>
              </a:solidFill>
              <a:ln w="9525" cap="flat">
                <a:solidFill>
                  <a:srgbClr val="E88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-0.35261739045381546</c:v>
                </c:pt>
                <c:pt idx="1">
                  <c:v>-0.606992844492197</c:v>
                </c:pt>
                <c:pt idx="2">
                  <c:v>-1.0219152607023716</c:v>
                </c:pt>
                <c:pt idx="3">
                  <c:v>-1.2505300007760525</c:v>
                </c:pt>
                <c:pt idx="4">
                  <c:v>-1.2280814908444881</c:v>
                </c:pt>
                <c:pt idx="5">
                  <c:v>-1.2871790006756783</c:v>
                </c:pt>
                <c:pt idx="6">
                  <c:v>-1.2400355427525938</c:v>
                </c:pt>
                <c:pt idx="7">
                  <c:v>-1.4465269539505243</c:v>
                </c:pt>
                <c:pt idx="8">
                  <c:v>-1.5710936486721039</c:v>
                </c:pt>
                <c:pt idx="9">
                  <c:v>-1.4072920493781567</c:v>
                </c:pt>
                <c:pt idx="10">
                  <c:v>-1.5875214189291</c:v>
                </c:pt>
                <c:pt idx="11">
                  <c:v>-1.6207535490393639</c:v>
                </c:pt>
                <c:pt idx="12">
                  <c:v>-1.6444807350635529</c:v>
                </c:pt>
                <c:pt idx="13">
                  <c:v>-1.5870033949613571</c:v>
                </c:pt>
                <c:pt idx="14">
                  <c:v>-1.7602532655000687</c:v>
                </c:pt>
                <c:pt idx="15">
                  <c:v>-1.801756590604782</c:v>
                </c:pt>
                <c:pt idx="16">
                  <c:v>-1.7085928618907928</c:v>
                </c:pt>
                <c:pt idx="17">
                  <c:v>-1.7221053391695023</c:v>
                </c:pt>
                <c:pt idx="18">
                  <c:v>-1.9050854966044426</c:v>
                </c:pt>
                <c:pt idx="19">
                  <c:v>-1.8407059088349342</c:v>
                </c:pt>
                <c:pt idx="20">
                  <c:v>-1.796782560646534</c:v>
                </c:pt>
                <c:pt idx="21">
                  <c:v>-1.8459641486406326</c:v>
                </c:pt>
                <c:pt idx="22">
                  <c:v>-1.9236529171466827</c:v>
                </c:pt>
                <c:pt idx="23">
                  <c:v>-1.9871537685394287</c:v>
                </c:pt>
                <c:pt idx="24">
                  <c:v>-1.9169714227318764</c:v>
                </c:pt>
                <c:pt idx="25">
                  <c:v>-2.0501707643270493</c:v>
                </c:pt>
                <c:pt idx="26">
                  <c:v>-2.02529114484787</c:v>
                </c:pt>
                <c:pt idx="27">
                  <c:v>-2.046690955758095</c:v>
                </c:pt>
                <c:pt idx="28">
                  <c:v>-2.09553524851799</c:v>
                </c:pt>
                <c:pt idx="29">
                  <c:v>-2.096738412976265</c:v>
                </c:pt>
                <c:pt idx="30">
                  <c:v>-2.105332374572754</c:v>
                </c:pt>
                <c:pt idx="31">
                  <c:v>-2.144959792494774</c:v>
                </c:pt>
                <c:pt idx="32">
                  <c:v>-2.086927115917206</c:v>
                </c:pt>
                <c:pt idx="33">
                  <c:v>-2.135652869939804</c:v>
                </c:pt>
                <c:pt idx="34">
                  <c:v>-2.185067892074585</c:v>
                </c:pt>
                <c:pt idx="35">
                  <c:v>-2.228165179491043</c:v>
                </c:pt>
                <c:pt idx="36">
                  <c:v>-2.219630017876625</c:v>
                </c:pt>
                <c:pt idx="37">
                  <c:v>-2.190209910273552</c:v>
                </c:pt>
                <c:pt idx="38">
                  <c:v>-2.253091737627983</c:v>
                </c:pt>
                <c:pt idx="39">
                  <c:v>-2.1814526319503784</c:v>
                </c:pt>
                <c:pt idx="40">
                  <c:v>-2.2536073476076126</c:v>
                </c:pt>
                <c:pt idx="41">
                  <c:v>-2.3003451824188232</c:v>
                </c:pt>
                <c:pt idx="42">
                  <c:v>-2.2958004027605057</c:v>
                </c:pt>
                <c:pt idx="43">
                  <c:v>-2.307560607790947</c:v>
                </c:pt>
                <c:pt idx="44">
                  <c:v>-2.3200646191835403</c:v>
                </c:pt>
                <c:pt idx="45">
                  <c:v>-2.329009085893631</c:v>
                </c:pt>
                <c:pt idx="46">
                  <c:v>-2.345653608441353</c:v>
                </c:pt>
                <c:pt idx="47">
                  <c:v>-2.344652220606804</c:v>
                </c:pt>
                <c:pt idx="48">
                  <c:v>-2.337843954563141</c:v>
                </c:pt>
                <c:pt idx="49">
                  <c:v>-2.3653458058834076</c:v>
                </c:pt>
                <c:pt idx="50">
                  <c:v>-2.364255502820015</c:v>
                </c:pt>
                <c:pt idx="51">
                  <c:v>-2.370897337794304</c:v>
                </c:pt>
                <c:pt idx="52">
                  <c:v>-2.3740935623645782</c:v>
                </c:pt>
                <c:pt idx="53">
                  <c:v>-2.3780556321144104</c:v>
                </c:pt>
                <c:pt idx="54">
                  <c:v>-2.3814509361982346</c:v>
                </c:pt>
                <c:pt idx="55">
                  <c:v>-2.3820672035217285</c:v>
                </c:pt>
                <c:pt idx="56">
                  <c:v>-2.3837027698755264</c:v>
                </c:pt>
                <c:pt idx="57">
                  <c:v>-2.385093405842781</c:v>
                </c:pt>
                <c:pt idx="58">
                  <c:v>-2.3848379850387573</c:v>
                </c:pt>
                <c:pt idx="59">
                  <c:v>-2.3847651928663254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覚え込み対策あり</c:v>
                </c:pt>
              </c:strCache>
            </c:strRef>
          </c:tx>
          <c:spPr>
            <a:solidFill>
              <a:srgbClr val="5B7DA8"/>
            </a:solidFill>
            <a:ln w="31750" cap="flat">
              <a:solidFill>
                <a:srgbClr val="5B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7DA8"/>
              </a:solidFill>
              <a:ln w="9525" cap="flat">
                <a:solidFill>
                  <a:srgbClr val="5B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-0.28322533749451395</c:v>
                </c:pt>
                <c:pt idx="1">
                  <c:v>-0.5997959226369858</c:v>
                </c:pt>
                <c:pt idx="2">
                  <c:v>-0.8478513729060069</c:v>
                </c:pt>
                <c:pt idx="3">
                  <c:v>-0.9910743650980294</c:v>
                </c:pt>
                <c:pt idx="4">
                  <c:v>-1.0634337617084384</c:v>
                </c:pt>
                <c:pt idx="5">
                  <c:v>-1.1425768653862178</c:v>
                </c:pt>
                <c:pt idx="6">
                  <c:v>-1.210748152807355</c:v>
                </c:pt>
                <c:pt idx="7">
                  <c:v>-1.3288299776613712</c:v>
                </c:pt>
                <c:pt idx="8">
                  <c:v>-1.3335336446762085</c:v>
                </c:pt>
                <c:pt idx="9">
                  <c:v>-1.2381432596594095</c:v>
                </c:pt>
                <c:pt idx="10">
                  <c:v>-1.4873097352683544</c:v>
                </c:pt>
                <c:pt idx="11">
                  <c:v>-1.4433478489518166</c:v>
                </c:pt>
                <c:pt idx="12">
                  <c:v>-1.44350491091609</c:v>
                </c:pt>
                <c:pt idx="13">
                  <c:v>-1.446251168847084</c:v>
                </c:pt>
                <c:pt idx="14">
                  <c:v>-1.583189845085144</c:v>
                </c:pt>
                <c:pt idx="15">
                  <c:v>-1.5842050537467003</c:v>
                </c:pt>
                <c:pt idx="16">
                  <c:v>-1.580026425421238</c:v>
                </c:pt>
                <c:pt idx="17">
                  <c:v>-1.6275773793458939</c:v>
                </c:pt>
                <c:pt idx="18">
                  <c:v>-1.651950791478157</c:v>
                </c:pt>
                <c:pt idx="19">
                  <c:v>-1.6477342918515205</c:v>
                </c:pt>
                <c:pt idx="20">
                  <c:v>-1.6462909579277039</c:v>
                </c:pt>
                <c:pt idx="21">
                  <c:v>-1.7269815728068352</c:v>
                </c:pt>
                <c:pt idx="22">
                  <c:v>-1.7426797747612</c:v>
                </c:pt>
                <c:pt idx="23">
                  <c:v>-1.7831111252307892</c:v>
                </c:pt>
                <c:pt idx="24">
                  <c:v>-1.7801363170146942</c:v>
                </c:pt>
                <c:pt idx="25">
                  <c:v>-1.7591970786452293</c:v>
                </c:pt>
                <c:pt idx="26">
                  <c:v>-1.8231912329792976</c:v>
                </c:pt>
                <c:pt idx="27">
                  <c:v>-1.6696122884750366</c:v>
                </c:pt>
                <c:pt idx="28">
                  <c:v>-1.811135470867157</c:v>
                </c:pt>
                <c:pt idx="29">
                  <c:v>-1.8547076433897018</c:v>
                </c:pt>
                <c:pt idx="30">
                  <c:v>-1.8121564909815788</c:v>
                </c:pt>
                <c:pt idx="31">
                  <c:v>-1.903010480105877</c:v>
                </c:pt>
                <c:pt idx="32">
                  <c:v>-1.89402936398983</c:v>
                </c:pt>
                <c:pt idx="33">
                  <c:v>-1.8750210478901863</c:v>
                </c:pt>
                <c:pt idx="34">
                  <c:v>-1.838464617729187</c:v>
                </c:pt>
                <c:pt idx="35">
                  <c:v>-1.9018409848213196</c:v>
                </c:pt>
                <c:pt idx="36">
                  <c:v>-1.993573747575283</c:v>
                </c:pt>
                <c:pt idx="37">
                  <c:v>-1.8823684677481651</c:v>
                </c:pt>
                <c:pt idx="38">
                  <c:v>-1.9951830208301544</c:v>
                </c:pt>
                <c:pt idx="39">
                  <c:v>-1.9173186048865318</c:v>
                </c:pt>
                <c:pt idx="40">
                  <c:v>-1.9878048449754715</c:v>
                </c:pt>
                <c:pt idx="41">
                  <c:v>-2.016011469066143</c:v>
                </c:pt>
                <c:pt idx="42">
                  <c:v>-2.042349860072136</c:v>
                </c:pt>
                <c:pt idx="43">
                  <c:v>-2.0578484535217285</c:v>
                </c:pt>
                <c:pt idx="44">
                  <c:v>-2.0618816316127777</c:v>
                </c:pt>
                <c:pt idx="45">
                  <c:v>-2.0674204379320145</c:v>
                </c:pt>
                <c:pt idx="46">
                  <c:v>-2.1174390092492104</c:v>
                </c:pt>
                <c:pt idx="47">
                  <c:v>-2.1031041890382767</c:v>
                </c:pt>
                <c:pt idx="48">
                  <c:v>-2.108526401221752</c:v>
                </c:pt>
                <c:pt idx="49">
                  <c:v>-2.1197355464100838</c:v>
                </c:pt>
                <c:pt idx="50">
                  <c:v>-2.118889704346657</c:v>
                </c:pt>
                <c:pt idx="51">
                  <c:v>-2.1237103790044785</c:v>
                </c:pt>
                <c:pt idx="52">
                  <c:v>-2.153963103890419</c:v>
                </c:pt>
                <c:pt idx="53">
                  <c:v>-2.1368854865431786</c:v>
                </c:pt>
                <c:pt idx="54">
                  <c:v>-2.1444103345274925</c:v>
                </c:pt>
                <c:pt idx="55">
                  <c:v>-2.1555505096912384</c:v>
                </c:pt>
                <c:pt idx="56">
                  <c:v>-2.157582588493824</c:v>
                </c:pt>
                <c:pt idx="57">
                  <c:v>-2.157852977514267</c:v>
                </c:pt>
                <c:pt idx="58">
                  <c:v>-2.159155696630478</c:v>
                </c:pt>
                <c:pt idx="59">
                  <c:v>-2.1584283262491226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0"/>
          <c:min val="-2.6"/>
        </c:scaling>
        <c:delete val="0"/>
        <c:axPos val="l"/>
        <c:majorGridlines>
          <c:spPr>
            <a:ln w="9525" cap="flat">
              <a:solidFill>
                <a:srgbClr val="EAF2F1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勉強会用の振り返りです。2019年の Kaggle コンペ「Predicting Molecular Properties」（CHAMPS）を、事前学習済みの 3D 分子モデル Uni-Mol で解いてみた話をします。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流れは5つです。結論を先に言うと、Uni-Mol を fine-tune したモデル2本の平均で Private -2.424、当時の最終順位なら38位前後でした。1本だけだと -2.372（42位前後）です。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 は NMR で測れる量で、DFT で計算すると重い。8種類の type があり、指標は type 別の log(MAE) の平均。件数が少ない type も同じ重みで効くのがポイントです。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入力に使えるのは原子の種類と座標、どのペアか、type だけ。4成分や電荷は train にしかないので、使うなら補助ターゲット。結合や角度は自分で計算するか、モデルに学ばせる必要があります。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上位10チームの解法です。上位4チームはすべて attention 系。2位は座標と原子種と type だけを Transformer に入れて、単体モデルで -3.16 を出しています。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共通点は3つ。attention 系が強い、距離や角度などの幾何情報をどう入れるかが鍵、type 別の出力と長い学習。特に2つ目が、あとの EDA と Uni-Mol の話につながります。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条件はシンプル・Transformer・Colab Pro 1か月。最初は2位方式をベースに考えましたが、2位は計算資源が桁違い。そこで、まず EDA で何が効くのかを確かめることにしました。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上位が効いたと言っていた要素をデータで確認。1JHC は C の混成で 87→129→197Hz と大きく変わる。3JHH は二面角でいわゆる Karplus 曲線が出て、中間の原子によって形も変わります。結合は距離から判定しましたが、RDKit と 99.96% の分子で一致しました。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どれくらい効くかを、モデルを使わずに数値化しました。経路サブタイプ＋角度・二面角＋距離で 1.19 から 0.28 まで下がる。ただ上位は -3.2 なので、残りはモデルが学ぶ部分です。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2位の真似では予算的に再現が精一杯なので、2019年以降に出てきた 3D 分子の事前学習モデル Uni-Mol を使いました。理由は4つ。ペアの表現を持つ、事前学習済み、軽い、水素込みの重みがある。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入力は原子の種類と座標。距離をガウス関数で展開して attention のバイアスに足し、各層の attention スコアを次の層のペア表現として引き継ぎます。出力は原子の表現とペアの表現。事前学習は原子を隠して当てる、ずらした座標を戻す、の2つです。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EDA で効くと分かった要素は、Uni-Mol の中ではすべて距離から表現できます。角度や二面角も、3〜4原子の距離の組で決まる。実際、ペア表現から原子間距離を 0.05Å の誤差で再現できたので、形の情報はちゃんと入っています。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Uni-Mol を動かすまでの全体像です。公式ライブラリは PyTorch 2.4 以上が必要で手元の Intel Mac に入らないので、本体のコードだけを移植して公開重みを読み込みました。ここから3枚で、2〜4 の中身を順に説明します。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Uni-Mol に入れるための形です。1つ目、語彙の番号は mol.dict.txt の行の順番で決まるので、公式と同じ番号にしないと別の原子として読まれます。2つ目、座標は重心を原点に移し、特別なトークンは原点に置きます。3つ目、先頭に [CLS] が入るので、train.csv の atom_index は +1 して取り出します。ここを間違えると隣の原子の J を予測してしまいます。4つ目、原子数の近い分子をまとめて、0埋めを減らしています。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移植がうまくいったかは、学習の前に確かめました。事前学習で原子間距離を当てていた部品 dist_head はそのまま重みに入っているので、移植した本体のペア表現を入れて距離を予測させ、本物の距離と比べます。出力は標準化されているので、平均 6.3126、標準偏差 3.3899 で Å に戻します。最初は delta という別のペア表現を入れて 0.98Å ずれましたが、最終のペア表現に直すと 0.05Å。語彙や入力の形を間違えていても学習は回ってしまうので、ここで答え合わせするのが大事でした。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 は物理的な仕組みごとに4つに分けられて、足すとぴったり J になります。テストの合計点と科目別の点数の関係です。原子核は小さな磁石で、その磁石どうしが電子を伝言役にして感じ合う強さが J。伝言のルートが4種類あります。覚えるのは、fc がほぼ全部で残り3つは補正、ということ。ただ 2JHH や 3JHH では残りも3割ほど効いています。この内訳は train にしかないので、補助の正解として使えます。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 を出す部分は新しく付けました。原子 i と j の表現、その積、ペアの表現を両方向、type の埋め込みを並べて MLP に入れ、type ごとに4成分を出して合計を J にします。工夫は3つ。i と j を入れ替えた出力を平均して、順番に依存しないようにする。type と成分ごとに値の大きさが全然違うので、学習分子で計算した平均と標準偏差でスケールを戻す。出力は 8 type × 4 成分の 32 個で、自分の type の4つだけ使う。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学習の設定です。大事なのは学習率を2つに分けたこと。本体はすでに分子の形を知っているので 1e-4 で少しずつ、新しく付けた出力部分はゼロから学ぶので 1e-3 と10倍にしました。最初の3%で学習率をゆっくり上げるのも、事前学習の重みを最初に壊さないためです。損失は評価指標そのもの。検証は分子単位で分けたので、検証と LB がほぼ一致しました。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Uni-Mol の fine-tune を、設定を変えて2回学習しました。1つ目は基本の設定。学習と検証の差が開いて覚え込みが目立ったので、2つ目は dropout と、J の4成分も一緒に当てさせる補助損失を入れた「覚え込み対策あり」です。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基本の設定は検証 -2.385、Private -2.372。覚え込み対策ありは、単体では全 type で悪化しました。それでも 7:3 で混ぜると Private -2.424 まで伸びて、当時の順位なら38位前後です。検証と LB はほぼ一致していました。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事前学習モデルの fine-tune で銀メダル圏まで来ました。課題は覚え込みと、1JHC などの弱い type。覚え込み対策ありは60エポックでは学習不足だったようなので、エポックを増やして試したい。あとはモデルを増やして平均、弱い type の fine-tune 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7680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DB9B0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9B0"/>
                </a:solidFill>
              </a:rPr>
              <a:t>CHAMPS × Uni-Mol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CHAMPS Scalar Coupling に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Uni-Mol で挑んでみた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DB9B0"/>
                </a:solidFill>
              </a:rPr>
              <a:t>Kaggle「Predicting Molecular Properties」（2019）の振り返り</a:t>
            </a:r>
            <a:endParaRPr lang="en-US" sz="1800" dirty="0"/>
          </a:p>
        </p:txBody>
      </p:sp>
      <p:sp>
        <p:nvSpPr>
          <p:cNvPr id="4" name="bond_1"/>
          <p:cNvSpPr/>
          <p:nvPr/>
        </p:nvSpPr>
        <p:spPr>
          <a:xfrm>
            <a:off x="8732520" y="3017520"/>
            <a:ext cx="2514600" cy="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5" name="bond_2"/>
          <p:cNvSpPr/>
          <p:nvPr/>
        </p:nvSpPr>
        <p:spPr>
          <a:xfrm>
            <a:off x="9418320" y="2148840"/>
            <a:ext cx="0" cy="192024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6" name="bond_3"/>
          <p:cNvSpPr/>
          <p:nvPr/>
        </p:nvSpPr>
        <p:spPr>
          <a:xfrm>
            <a:off x="10515600" y="2148840"/>
            <a:ext cx="0" cy="192024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7" name="atom_4"/>
          <p:cNvSpPr/>
          <p:nvPr/>
        </p:nvSpPr>
        <p:spPr>
          <a:xfrm>
            <a:off x="8503920" y="278892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atomLabel_5"/>
          <p:cNvSpPr txBox="1"/>
          <p:nvPr/>
        </p:nvSpPr>
        <p:spPr>
          <a:xfrm>
            <a:off x="8503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</a:t>
            </a:r>
            <a:endParaRPr lang="en-US" sz="1600" dirty="0"/>
          </a:p>
        </p:txBody>
      </p:sp>
      <p:sp>
        <p:nvSpPr>
          <p:cNvPr id="9" name="atom_6"/>
          <p:cNvSpPr/>
          <p:nvPr/>
        </p:nvSpPr>
        <p:spPr>
          <a:xfrm>
            <a:off x="9098280" y="269748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0" name="atomLabel_7"/>
          <p:cNvSpPr txBox="1"/>
          <p:nvPr/>
        </p:nvSpPr>
        <p:spPr>
          <a:xfrm>
            <a:off x="909828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1" name="atom_8"/>
          <p:cNvSpPr/>
          <p:nvPr/>
        </p:nvSpPr>
        <p:spPr>
          <a:xfrm>
            <a:off x="10195560" y="269748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2" name="atomLabel_9"/>
          <p:cNvSpPr txBox="1"/>
          <p:nvPr/>
        </p:nvSpPr>
        <p:spPr>
          <a:xfrm>
            <a:off x="1019556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3" name="atom_10"/>
          <p:cNvSpPr/>
          <p:nvPr/>
        </p:nvSpPr>
        <p:spPr>
          <a:xfrm>
            <a:off x="11018520" y="278892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atomLabel_11"/>
          <p:cNvSpPr txBox="1"/>
          <p:nvPr/>
        </p:nvSpPr>
        <p:spPr>
          <a:xfrm>
            <a:off x="110185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</a:t>
            </a:r>
            <a:endParaRPr lang="en-US" sz="1600" dirty="0"/>
          </a:p>
        </p:txBody>
      </p:sp>
      <p:sp>
        <p:nvSpPr>
          <p:cNvPr id="15" name="atom_12"/>
          <p:cNvSpPr/>
          <p:nvPr/>
        </p:nvSpPr>
        <p:spPr>
          <a:xfrm>
            <a:off x="9189720" y="1920240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6" name="atomLabel_13"/>
          <p:cNvSpPr txBox="1"/>
          <p:nvPr/>
        </p:nvSpPr>
        <p:spPr>
          <a:xfrm>
            <a:off x="91897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</a:t>
            </a:r>
            <a:endParaRPr lang="en-US" sz="1600" dirty="0"/>
          </a:p>
        </p:txBody>
      </p:sp>
      <p:sp>
        <p:nvSpPr>
          <p:cNvPr id="17" name="atom_14"/>
          <p:cNvSpPr/>
          <p:nvPr/>
        </p:nvSpPr>
        <p:spPr>
          <a:xfrm>
            <a:off x="10287000" y="1920240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8" name="atomLabel_15"/>
          <p:cNvSpPr txBox="1"/>
          <p:nvPr/>
        </p:nvSpPr>
        <p:spPr>
          <a:xfrm>
            <a:off x="102870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</a:t>
            </a:r>
            <a:endParaRPr lang="en-US" sz="1600" dirty="0"/>
          </a:p>
        </p:txBody>
      </p:sp>
      <p:sp>
        <p:nvSpPr>
          <p:cNvPr id="19" name="atom_16"/>
          <p:cNvSpPr/>
          <p:nvPr/>
        </p:nvSpPr>
        <p:spPr>
          <a:xfrm>
            <a:off x="9189720" y="384048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atomLabel_17"/>
          <p:cNvSpPr txBox="1"/>
          <p:nvPr/>
        </p:nvSpPr>
        <p:spPr>
          <a:xfrm>
            <a:off x="91897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</a:t>
            </a:r>
            <a:endParaRPr lang="en-US" sz="1600" dirty="0"/>
          </a:p>
        </p:txBody>
      </p:sp>
      <p:sp>
        <p:nvSpPr>
          <p:cNvPr id="21" name="atom_18"/>
          <p:cNvSpPr/>
          <p:nvPr/>
        </p:nvSpPr>
        <p:spPr>
          <a:xfrm>
            <a:off x="10287000" y="384048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atomLabel_19"/>
          <p:cNvSpPr txBox="1"/>
          <p:nvPr/>
        </p:nvSpPr>
        <p:spPr>
          <a:xfrm>
            <a:off x="102870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</a:t>
            </a:r>
            <a:endParaRPr lang="en-US" sz="1600" dirty="0"/>
          </a:p>
        </p:txBody>
      </p:sp>
      <p:sp>
        <p:nvSpPr>
          <p:cNvPr id="23" name="text_20"/>
          <p:cNvSpPr txBox="1"/>
          <p:nvPr/>
        </p:nvSpPr>
        <p:spPr>
          <a:xfrm>
            <a:off x="9281160" y="141732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C14E"/>
                </a:solidFill>
              </a:rPr>
              <a:t>3JHH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今日の話</a:t>
            </a:r>
            <a:endParaRPr lang="en-US" sz="3200" dirty="0"/>
          </a:p>
        </p:txBody>
      </p:sp>
      <p:sp>
        <p:nvSpPr>
          <p:cNvPr id="3" name="atom_2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4" name="atomLabel_2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bond_23"/>
          <p:cNvSpPr/>
          <p:nvPr/>
        </p:nvSpPr>
        <p:spPr>
          <a:xfrm>
            <a:off x="832104" y="1984248"/>
            <a:ext cx="0" cy="347472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6" name="text_24"/>
          <p:cNvSpPr txBox="1"/>
          <p:nvPr/>
        </p:nvSpPr>
        <p:spPr>
          <a:xfrm>
            <a:off x="1325880" y="14356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上位解法を調べる</a:t>
            </a:r>
            <a:endParaRPr lang="en-US" sz="1800" dirty="0"/>
          </a:p>
        </p:txBody>
      </p:sp>
      <p:sp>
        <p:nvSpPr>
          <p:cNvPr id="7" name="text_25"/>
          <p:cNvSpPr txBox="1"/>
          <p:nvPr/>
        </p:nvSpPr>
        <p:spPr>
          <a:xfrm>
            <a:off x="1325880" y="17465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上位は何で勝ったか</a:t>
            </a:r>
            <a:endParaRPr lang="en-US" sz="1400" dirty="0"/>
          </a:p>
        </p:txBody>
      </p:sp>
      <p:sp>
        <p:nvSpPr>
          <p:cNvPr id="8" name="atom_26"/>
          <p:cNvSpPr/>
          <p:nvPr/>
        </p:nvSpPr>
        <p:spPr>
          <a:xfrm>
            <a:off x="548640" y="2331720"/>
            <a:ext cx="566928" cy="566928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9" name="atomLabel_27"/>
          <p:cNvSpPr txBox="1"/>
          <p:nvPr/>
        </p:nvSpPr>
        <p:spPr>
          <a:xfrm>
            <a:off x="54864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bond_28"/>
          <p:cNvSpPr/>
          <p:nvPr/>
        </p:nvSpPr>
        <p:spPr>
          <a:xfrm>
            <a:off x="832104" y="2898648"/>
            <a:ext cx="0" cy="347472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11" name="text_29"/>
          <p:cNvSpPr txBox="1"/>
          <p:nvPr/>
        </p:nvSpPr>
        <p:spPr>
          <a:xfrm>
            <a:off x="1325880" y="23500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方針を立てる</a:t>
            </a:r>
            <a:endParaRPr lang="en-US" sz="1800" dirty="0"/>
          </a:p>
        </p:txBody>
      </p:sp>
      <p:sp>
        <p:nvSpPr>
          <p:cNvPr id="12" name="text_30"/>
          <p:cNvSpPr txBox="1"/>
          <p:nvPr/>
        </p:nvSpPr>
        <p:spPr>
          <a:xfrm>
            <a:off x="1325880" y="2660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シンプル・Transformer・Colab Pro 1か月</a:t>
            </a:r>
            <a:endParaRPr lang="en-US" sz="1400" dirty="0"/>
          </a:p>
        </p:txBody>
      </p:sp>
      <p:sp>
        <p:nvSpPr>
          <p:cNvPr id="13" name="atom_31"/>
          <p:cNvSpPr/>
          <p:nvPr/>
        </p:nvSpPr>
        <p:spPr>
          <a:xfrm>
            <a:off x="548640" y="3246120"/>
            <a:ext cx="566928" cy="566928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4" name="atomLabel_32"/>
          <p:cNvSpPr txBox="1"/>
          <p:nvPr/>
        </p:nvSpPr>
        <p:spPr>
          <a:xfrm>
            <a:off x="548640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bond_33"/>
          <p:cNvSpPr/>
          <p:nvPr/>
        </p:nvSpPr>
        <p:spPr>
          <a:xfrm>
            <a:off x="832104" y="3813048"/>
            <a:ext cx="0" cy="347472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16" name="text_34"/>
          <p:cNvSpPr txBox="1"/>
          <p:nvPr/>
        </p:nvSpPr>
        <p:spPr>
          <a:xfrm>
            <a:off x="1325880" y="32644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EDA で裏を取る</a:t>
            </a:r>
            <a:endParaRPr lang="en-US" sz="1800" dirty="0"/>
          </a:p>
        </p:txBody>
      </p:sp>
      <p:sp>
        <p:nvSpPr>
          <p:cNvPr id="17" name="text_35"/>
          <p:cNvSpPr txBox="1"/>
          <p:nvPr/>
        </p:nvSpPr>
        <p:spPr>
          <a:xfrm>
            <a:off x="1325880" y="35753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上位が効くと言った要素は本当に効くか</a:t>
            </a:r>
            <a:endParaRPr lang="en-US" sz="1400" dirty="0"/>
          </a:p>
        </p:txBody>
      </p:sp>
      <p:sp>
        <p:nvSpPr>
          <p:cNvPr id="18" name="atom_36"/>
          <p:cNvSpPr/>
          <p:nvPr/>
        </p:nvSpPr>
        <p:spPr>
          <a:xfrm>
            <a:off x="548640" y="4160520"/>
            <a:ext cx="566928" cy="566928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9" name="atomLabel_37"/>
          <p:cNvSpPr txBox="1"/>
          <p:nvPr/>
        </p:nvSpPr>
        <p:spPr>
          <a:xfrm>
            <a:off x="54864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bond_38"/>
          <p:cNvSpPr/>
          <p:nvPr/>
        </p:nvSpPr>
        <p:spPr>
          <a:xfrm>
            <a:off x="832104" y="4727448"/>
            <a:ext cx="0" cy="347472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21" name="text_39"/>
          <p:cNvSpPr txBox="1"/>
          <p:nvPr/>
        </p:nvSpPr>
        <p:spPr>
          <a:xfrm>
            <a:off x="1325880" y="41788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Uni-Mol を選んで作る</a:t>
            </a:r>
            <a:endParaRPr lang="en-US" sz="1800" dirty="0"/>
          </a:p>
        </p:txBody>
      </p:sp>
      <p:sp>
        <p:nvSpPr>
          <p:cNvPr id="22" name="text_40"/>
          <p:cNvSpPr txBox="1"/>
          <p:nvPr/>
        </p:nvSpPr>
        <p:spPr>
          <a:xfrm>
            <a:off x="1325880" y="4489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なぜ Uni-Mol か、中身、特徴量</a:t>
            </a:r>
            <a:endParaRPr lang="en-US" sz="1400" dirty="0"/>
          </a:p>
        </p:txBody>
      </p:sp>
      <p:sp>
        <p:nvSpPr>
          <p:cNvPr id="23" name="atom_41"/>
          <p:cNvSpPr/>
          <p:nvPr/>
        </p:nvSpPr>
        <p:spPr>
          <a:xfrm>
            <a:off x="548640" y="5074920"/>
            <a:ext cx="566928" cy="566928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4" name="atomLabel_42"/>
          <p:cNvSpPr txBox="1"/>
          <p:nvPr/>
        </p:nvSpPr>
        <p:spPr>
          <a:xfrm>
            <a:off x="54864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text_43"/>
          <p:cNvSpPr txBox="1"/>
          <p:nvPr/>
        </p:nvSpPr>
        <p:spPr>
          <a:xfrm>
            <a:off x="132588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結果と次の一手</a:t>
            </a:r>
            <a:endParaRPr lang="en-US" sz="1800" dirty="0"/>
          </a:p>
        </p:txBody>
      </p:sp>
      <p:sp>
        <p:nvSpPr>
          <p:cNvPr id="26" name="text_44"/>
          <p:cNvSpPr txBox="1"/>
          <p:nvPr/>
        </p:nvSpPr>
        <p:spPr>
          <a:xfrm>
            <a:off x="1325880" y="5404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LB のスコアと課題</a:t>
            </a:r>
            <a:endParaRPr lang="en-US" sz="1400" dirty="0"/>
          </a:p>
        </p:txBody>
      </p:sp>
      <p:sp>
        <p:nvSpPr>
          <p:cNvPr id="27" name="card_45"/>
          <p:cNvSpPr/>
          <p:nvPr/>
        </p:nvSpPr>
        <p:spPr>
          <a:xfrm>
            <a:off x="6766560" y="1417320"/>
            <a:ext cx="4873752" cy="425196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_46"/>
          <p:cNvSpPr txBox="1"/>
          <p:nvPr/>
        </p:nvSpPr>
        <p:spPr>
          <a:xfrm>
            <a:off x="713232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DB9B0"/>
                </a:solidFill>
              </a:rPr>
              <a:t>結果（Late Submission）</a:t>
            </a:r>
            <a:endParaRPr lang="en-US" sz="1600" dirty="0"/>
          </a:p>
        </p:txBody>
      </p:sp>
      <p:sp>
        <p:nvSpPr>
          <p:cNvPr id="29" name="text_47"/>
          <p:cNvSpPr txBox="1"/>
          <p:nvPr/>
        </p:nvSpPr>
        <p:spPr>
          <a:xfrm>
            <a:off x="7132320" y="21031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2C14E"/>
                </a:solidFill>
              </a:rPr>
              <a:t>-2.424</a:t>
            </a:r>
            <a:endParaRPr lang="en-US" sz="6600" dirty="0"/>
          </a:p>
        </p:txBody>
      </p:sp>
      <p:sp>
        <p:nvSpPr>
          <p:cNvPr id="30" name="text_48"/>
          <p:cNvSpPr txBox="1"/>
          <p:nvPr/>
        </p:nvSpPr>
        <p:spPr>
          <a:xfrm>
            <a:off x="7132320" y="3200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Private LB</a:t>
            </a:r>
            <a:endParaRPr lang="en-US" sz="1600" dirty="0"/>
          </a:p>
        </p:txBody>
      </p:sp>
      <p:sp>
        <p:nvSpPr>
          <p:cNvPr id="31" name="text_49"/>
          <p:cNvSpPr txBox="1"/>
          <p:nvPr/>
        </p:nvSpPr>
        <p:spPr>
          <a:xfrm>
            <a:off x="7132320" y="37490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最終 LB なら 38 位前後（2,749 チーム中、銀メダル圏）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Public -2.436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Uni-Mol の fine-tune 2 本を 7:3 で平均（1 本 A100 で約 1 時間強）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何を予測するコンペ？</a:t>
            </a:r>
            <a:endParaRPr lang="en-US" sz="3200" dirty="0"/>
          </a:p>
        </p:txBody>
      </p:sp>
      <p:sp>
        <p:nvSpPr>
          <p:cNvPr id="3" name="text_50"/>
          <p:cNvSpPr txBox="1"/>
          <p:nvPr/>
        </p:nvSpPr>
        <p:spPr>
          <a:xfrm>
            <a:off x="548640" y="137160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分子の中の 2 つの原子核が、結合の電子を介して及ぼし合う磁気的な相互作用の強さ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＝ スカラーカップリング定数 J（Hz）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NMR で観測される値。DFT で計算すると重いので、3D 構造から ML で一瞬で予測したい</a:t>
            </a:r>
            <a:endParaRPr lang="en-US" sz="1800" dirty="0"/>
          </a:p>
        </p:txBody>
      </p:sp>
      <p:sp>
        <p:nvSpPr>
          <p:cNvPr id="4" name="text_51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「1JHC」の読み方：数字 = 間にある結合の本数</a:t>
            </a:r>
            <a:endParaRPr lang="en-US" sz="1600" dirty="0"/>
          </a:p>
        </p:txBody>
      </p:sp>
      <p:sp>
        <p:nvSpPr>
          <p:cNvPr id="5" name="text_52"/>
          <p:cNvSpPr txBox="1"/>
          <p:nvPr/>
        </p:nvSpPr>
        <p:spPr>
          <a:xfrm>
            <a:off x="6492240" y="2039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1JHC</a:t>
            </a:r>
            <a:endParaRPr lang="en-US" sz="1600" dirty="0"/>
          </a:p>
        </p:txBody>
      </p:sp>
      <p:sp>
        <p:nvSpPr>
          <p:cNvPr id="6" name="bond_53"/>
          <p:cNvSpPr/>
          <p:nvPr/>
        </p:nvSpPr>
        <p:spPr>
          <a:xfrm>
            <a:off x="7818120" y="2194560"/>
            <a:ext cx="822960" cy="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7" name="atom_54"/>
          <p:cNvSpPr/>
          <p:nvPr/>
        </p:nvSpPr>
        <p:spPr>
          <a:xfrm>
            <a:off x="7589520" y="1965960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8" name="atomLabel_55"/>
          <p:cNvSpPr txBox="1"/>
          <p:nvPr/>
        </p:nvSpPr>
        <p:spPr>
          <a:xfrm>
            <a:off x="7589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9" name="atom_56"/>
          <p:cNvSpPr/>
          <p:nvPr/>
        </p:nvSpPr>
        <p:spPr>
          <a:xfrm>
            <a:off x="8412480" y="1965960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0" name="atomLabel_57"/>
          <p:cNvSpPr txBox="1"/>
          <p:nvPr/>
        </p:nvSpPr>
        <p:spPr>
          <a:xfrm>
            <a:off x="84124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1" name="text_58"/>
          <p:cNvSpPr txBox="1"/>
          <p:nvPr/>
        </p:nvSpPr>
        <p:spPr>
          <a:xfrm>
            <a:off x="649224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2JHC</a:t>
            </a:r>
            <a:endParaRPr lang="en-US" sz="1600" dirty="0"/>
          </a:p>
        </p:txBody>
      </p:sp>
      <p:sp>
        <p:nvSpPr>
          <p:cNvPr id="12" name="bond_59"/>
          <p:cNvSpPr/>
          <p:nvPr/>
        </p:nvSpPr>
        <p:spPr>
          <a:xfrm>
            <a:off x="7818120" y="2852928"/>
            <a:ext cx="1645920" cy="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13" name="atom_60"/>
          <p:cNvSpPr/>
          <p:nvPr/>
        </p:nvSpPr>
        <p:spPr>
          <a:xfrm>
            <a:off x="7589520" y="2624328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4" name="atomLabel_61"/>
          <p:cNvSpPr txBox="1"/>
          <p:nvPr/>
        </p:nvSpPr>
        <p:spPr>
          <a:xfrm>
            <a:off x="758952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15" name="atom_62"/>
          <p:cNvSpPr/>
          <p:nvPr/>
        </p:nvSpPr>
        <p:spPr>
          <a:xfrm>
            <a:off x="8412480" y="2624328"/>
            <a:ext cx="457200" cy="45720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6" name="atomLabel_63"/>
          <p:cNvSpPr txBox="1"/>
          <p:nvPr/>
        </p:nvSpPr>
        <p:spPr>
          <a:xfrm>
            <a:off x="84124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atom_64"/>
          <p:cNvSpPr/>
          <p:nvPr/>
        </p:nvSpPr>
        <p:spPr>
          <a:xfrm>
            <a:off x="9235440" y="2624328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8" name="atomLabel_65"/>
          <p:cNvSpPr txBox="1"/>
          <p:nvPr/>
        </p:nvSpPr>
        <p:spPr>
          <a:xfrm>
            <a:off x="92354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9" name="text_66"/>
          <p:cNvSpPr txBox="1"/>
          <p:nvPr/>
        </p:nvSpPr>
        <p:spPr>
          <a:xfrm>
            <a:off x="6492240" y="3355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3JHC</a:t>
            </a:r>
            <a:endParaRPr lang="en-US" sz="1600" dirty="0"/>
          </a:p>
        </p:txBody>
      </p:sp>
      <p:sp>
        <p:nvSpPr>
          <p:cNvPr id="20" name="bond_67"/>
          <p:cNvSpPr/>
          <p:nvPr/>
        </p:nvSpPr>
        <p:spPr>
          <a:xfrm>
            <a:off x="7818120" y="3511296"/>
            <a:ext cx="2468880" cy="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21" name="atom_68"/>
          <p:cNvSpPr/>
          <p:nvPr/>
        </p:nvSpPr>
        <p:spPr>
          <a:xfrm>
            <a:off x="7589520" y="3282696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22" name="atomLabel_69"/>
          <p:cNvSpPr txBox="1"/>
          <p:nvPr/>
        </p:nvSpPr>
        <p:spPr>
          <a:xfrm>
            <a:off x="758952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23" name="atom_70"/>
          <p:cNvSpPr/>
          <p:nvPr/>
        </p:nvSpPr>
        <p:spPr>
          <a:xfrm>
            <a:off x="8412480" y="3282696"/>
            <a:ext cx="457200" cy="45720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4" name="atomLabel_71"/>
          <p:cNvSpPr txBox="1"/>
          <p:nvPr/>
        </p:nvSpPr>
        <p:spPr>
          <a:xfrm>
            <a:off x="84124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25" name="atom_72"/>
          <p:cNvSpPr/>
          <p:nvPr/>
        </p:nvSpPr>
        <p:spPr>
          <a:xfrm>
            <a:off x="9235440" y="3282696"/>
            <a:ext cx="457200" cy="45720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6" name="atomLabel_73"/>
          <p:cNvSpPr txBox="1"/>
          <p:nvPr/>
        </p:nvSpPr>
        <p:spPr>
          <a:xfrm>
            <a:off x="923544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27" name="atom_74"/>
          <p:cNvSpPr/>
          <p:nvPr/>
        </p:nvSpPr>
        <p:spPr>
          <a:xfrm>
            <a:off x="10058400" y="3282696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28" name="atomLabel_75"/>
          <p:cNvSpPr txBox="1"/>
          <p:nvPr/>
        </p:nvSpPr>
        <p:spPr>
          <a:xfrm>
            <a:off x="1005840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_76"/>
          <p:cNvSpPr txBox="1"/>
          <p:nvPr/>
        </p:nvSpPr>
        <p:spPr>
          <a:xfrm>
            <a:off x="6492240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二重結合でも経路の中では「1 本」と数える</a:t>
            </a:r>
            <a:endParaRPr lang="en-US" sz="1400" dirty="0"/>
          </a:p>
        </p:txBody>
      </p:sp>
      <p:sp>
        <p:nvSpPr>
          <p:cNvPr id="30" name="card_77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1" name="text_78"/>
          <p:cNvSpPr txBox="1"/>
          <p:nvPr/>
        </p:nvSpPr>
        <p:spPr>
          <a:xfrm>
            <a:off x="822960" y="4754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評価指標</a:t>
            </a:r>
            <a:endParaRPr lang="en-US" sz="1600" dirty="0"/>
          </a:p>
        </p:txBody>
      </p:sp>
      <p:sp>
        <p:nvSpPr>
          <p:cNvPr id="32" name="text_79"/>
          <p:cNvSpPr txBox="1"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type 別の log(MAE) の平均（type は 8 種類：1JHC 1JHN 2JHC 2JHH 2JHN 3JHC 3JHH 3JHN）</a:t>
            </a:r>
            <a:endParaRPr lang="en-US" sz="1600" dirty="0"/>
          </a:p>
        </p:txBody>
      </p:sp>
      <p:sp>
        <p:nvSpPr>
          <p:cNvPr id="33" name="text_80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→ 件数の少ない 1JHN（4 万件）も、多い 3JHC（151 万件）と同じ重み。値の大きさが違う type も公平に評価される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使えるのは原子と座標だけ</a:t>
            </a:r>
            <a:endParaRPr lang="en-US" sz="3200" dirty="0"/>
          </a:p>
        </p:txBody>
      </p:sp>
      <p:sp>
        <p:nvSpPr>
          <p:cNvPr id="3" name="card_81"/>
          <p:cNvSpPr/>
          <p:nvPr/>
        </p:nvSpPr>
        <p:spPr>
          <a:xfrm>
            <a:off x="548640" y="1371600"/>
            <a:ext cx="536432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ard_82"/>
          <p:cNvSpPr/>
          <p:nvPr/>
        </p:nvSpPr>
        <p:spPr>
          <a:xfrm>
            <a:off x="6278728" y="1371600"/>
            <a:ext cx="5364328" cy="3291840"/>
          </a:xfrm>
          <a:prstGeom prst="roundRect">
            <a:avLst>
              <a:gd name="adj" fmla="val 3333"/>
            </a:avLst>
          </a:prstGeom>
          <a:solidFill>
            <a:srgbClr val="F6EDE5"/>
          </a:solidFill>
          <a:ln w="9525">
            <a:solidFill>
              <a:srgbClr val="F6EDE5"/>
            </a:solidFill>
            <a:prstDash val="solid"/>
          </a:ln>
        </p:spPr>
      </p:sp>
      <p:sp>
        <p:nvSpPr>
          <p:cNvPr id="5" name="text_83"/>
          <p:cNvSpPr txBox="1"/>
          <p:nvPr/>
        </p:nvSpPr>
        <p:spPr>
          <a:xfrm>
            <a:off x="822960" y="16002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train / test 共通（入力に使える）</a:t>
            </a:r>
            <a:endParaRPr lang="en-US" sz="1800" dirty="0"/>
          </a:p>
        </p:txBody>
      </p:sp>
      <p:sp>
        <p:nvSpPr>
          <p:cNvPr id="6" name="text_84"/>
          <p:cNvSpPr txBox="1"/>
          <p:nvPr/>
        </p:nvSpPr>
        <p:spPr>
          <a:xfrm>
            <a:off x="822960" y="21031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structures.csv：原子の種類と xyz 座標（13 万分子、1 分子は最大 29 原子）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train.csv / test.csv：原子ペアと type（train 466 万ペア / test 251 万ペア）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 と test は分子単位で分かれている → CV も分子単位で</a:t>
            </a:r>
            <a:endParaRPr lang="en-US" sz="1600" dirty="0"/>
          </a:p>
        </p:txBody>
      </p:sp>
      <p:sp>
        <p:nvSpPr>
          <p:cNvPr id="7" name="text_85"/>
          <p:cNvSpPr txBox="1"/>
          <p:nvPr/>
        </p:nvSpPr>
        <p:spPr>
          <a:xfrm>
            <a:off x="6553048" y="16002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train だけ（入力には使えない）</a:t>
            </a:r>
            <a:endParaRPr lang="en-US" sz="1800" dirty="0"/>
          </a:p>
        </p:txBody>
      </p:sp>
      <p:sp>
        <p:nvSpPr>
          <p:cNvPr id="8" name="text_86"/>
          <p:cNvSpPr txBox="1"/>
          <p:nvPr/>
        </p:nvSpPr>
        <p:spPr>
          <a:xfrm>
            <a:off x="6553048" y="21031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 の 4 成分 fc / sd / pso / dso（合計 = J、ほぼ fc）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Mulliken 電荷、磁気遮蔽テンソル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双極子モーメント、ポテンシャルエネルギー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→ 補助ターゲットや中間予測としてなら使える</a:t>
            </a:r>
            <a:endParaRPr lang="en-US" sz="1600" dirty="0"/>
          </a:p>
        </p:txBody>
      </p:sp>
      <p:sp>
        <p:nvSpPr>
          <p:cNvPr id="9" name="atom_87"/>
          <p:cNvSpPr/>
          <p:nvPr/>
        </p:nvSpPr>
        <p:spPr>
          <a:xfrm>
            <a:off x="548640" y="5074920"/>
            <a:ext cx="566928" cy="566928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0" name="atomLabel_88"/>
          <p:cNvSpPr txBox="1"/>
          <p:nvPr/>
        </p:nvSpPr>
        <p:spPr>
          <a:xfrm>
            <a:off x="54864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_89"/>
          <p:cNvSpPr txBox="1"/>
          <p:nvPr/>
        </p:nvSpPr>
        <p:spPr>
          <a:xfrm>
            <a:off x="132588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結合・二重結合・角度・二面角はデータに書かれていない</a:t>
            </a:r>
            <a:endParaRPr lang="en-US" sz="1800" dirty="0"/>
          </a:p>
        </p:txBody>
      </p:sp>
      <p:sp>
        <p:nvSpPr>
          <p:cNvPr id="12" name="text_90"/>
          <p:cNvSpPr txBox="1"/>
          <p:nvPr/>
        </p:nvSpPr>
        <p:spPr>
          <a:xfrm>
            <a:off x="13258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7DA8"/>
                </a:solidFill>
              </a:rPr>
              <a:t>座標から自分で計算するか、モデルに学ばせるしかない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上位解法を調べた</a:t>
            </a:r>
            <a:endParaRPr lang="en-US" sz="3200" dirty="0"/>
          </a:p>
        </p:txBody>
      </p:sp>
      <p:graphicFrame>
        <p:nvGraphicFramePr>
          <p:cNvPr id="6" name="table_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051560"/>
                <a:gridCol w="3291840"/>
                <a:gridCol w="6065215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順位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Private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モデル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ポイント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-3.240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Soft Graph Transformer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原子・ペア・3 原子組をノードに。距離で attention を補正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-3.223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Transformer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入力は座標・原子種・type だけ。単体 -3.16 で最強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-3.195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BERT（ペアが 1 トークン）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4 成分を補助ターゲットに。疑似ラベル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-3.181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グラフ attention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2J/3J の辺に角度・二面角。GPU 1 枚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-3.150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MEGNet 系 GNN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辺どうしの角度を畳み込む。スタッキング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-3.045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MPNN + Transformer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距離・グラフ距離など 3 種の attention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-3.033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NN + LightGBM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NN の残差を LightGBM で補正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-3.002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SchNet 改造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1200 エポックでも学習不足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-2.974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MPNN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原子種と距離だけ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-2.933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Cormorant（回転同変）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他と似ておらず、アンサンブルで効く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_92"/>
          <p:cNvSpPr txBox="1"/>
          <p:nvPr/>
        </p:nvSpPr>
        <p:spPr>
          <a:xfrm>
            <a:off x="54864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出典：各チームの解法記事（Kaggle Writeups）、主催者の論文 Bratholm et al., PLoS ONE 2021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上位の共通点は 3 つ</a:t>
            </a:r>
            <a:endParaRPr lang="en-US" sz="3200" dirty="0"/>
          </a:p>
        </p:txBody>
      </p:sp>
      <p:sp>
        <p:nvSpPr>
          <p:cNvPr id="3" name="card_93"/>
          <p:cNvSpPr/>
          <p:nvPr/>
        </p:nvSpPr>
        <p:spPr>
          <a:xfrm>
            <a:off x="548640" y="141732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atom_94"/>
          <p:cNvSpPr/>
          <p:nvPr/>
        </p:nvSpPr>
        <p:spPr>
          <a:xfrm>
            <a:off x="868680" y="169164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5" name="atomLabel_95"/>
          <p:cNvSpPr txBox="1"/>
          <p:nvPr/>
        </p:nvSpPr>
        <p:spPr>
          <a:xfrm>
            <a:off x="8686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_96"/>
          <p:cNvSpPr txBox="1"/>
          <p:nvPr/>
        </p:nvSpPr>
        <p:spPr>
          <a:xfrm>
            <a:off x="868680" y="251460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Transformer / attention が勝ち筋</a:t>
            </a:r>
            <a:endParaRPr lang="en-US" sz="2000" dirty="0"/>
          </a:p>
        </p:txBody>
      </p:sp>
      <p:sp>
        <p:nvSpPr>
          <p:cNvPr id="7" name="text_97"/>
          <p:cNvSpPr txBox="1"/>
          <p:nvPr/>
        </p:nvSpPr>
        <p:spPr>
          <a:xfrm>
            <a:off x="868680" y="3429000"/>
            <a:ext cx="28142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上位 4 チームはすべて attention 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GNN（SchNet / MPNN）は改造しても単体 -2.9〜-3.0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LightGBM は作り込んでも -2.0〜-2.1</a:t>
            </a:r>
            <a:endParaRPr lang="en-US" sz="1600" dirty="0"/>
          </a:p>
        </p:txBody>
      </p:sp>
      <p:sp>
        <p:nvSpPr>
          <p:cNvPr id="8" name="card_98"/>
          <p:cNvSpPr/>
          <p:nvPr/>
        </p:nvSpPr>
        <p:spPr>
          <a:xfrm>
            <a:off x="4368698" y="141732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atom_99"/>
          <p:cNvSpPr/>
          <p:nvPr/>
        </p:nvSpPr>
        <p:spPr>
          <a:xfrm>
            <a:off x="4688738" y="1691640"/>
            <a:ext cx="640080" cy="64008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0" name="atomLabel_100"/>
          <p:cNvSpPr txBox="1"/>
          <p:nvPr/>
        </p:nvSpPr>
        <p:spPr>
          <a:xfrm>
            <a:off x="4688738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_101"/>
          <p:cNvSpPr txBox="1"/>
          <p:nvPr/>
        </p:nvSpPr>
        <p:spPr>
          <a:xfrm>
            <a:off x="4688738" y="251460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幾何の入れ方が鍵</a:t>
            </a:r>
            <a:endParaRPr lang="en-US" sz="2000" dirty="0"/>
          </a:p>
        </p:txBody>
      </p:sp>
      <p:sp>
        <p:nvSpPr>
          <p:cNvPr id="12" name="text_102"/>
          <p:cNvSpPr txBox="1"/>
          <p:nvPr/>
        </p:nvSpPr>
        <p:spPr>
          <a:xfrm>
            <a:off x="4688738" y="3429000"/>
            <a:ext cx="28142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距離で attention を補正（1 位）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座標をそのまま入れる（2・3 位）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角度・二面角を辺の特徴に（4 位）</a:t>
            </a:r>
            <a:endParaRPr lang="en-US" sz="1600" dirty="0"/>
          </a:p>
        </p:txBody>
      </p:sp>
      <p:sp>
        <p:nvSpPr>
          <p:cNvPr id="13" name="card_103"/>
          <p:cNvSpPr/>
          <p:nvPr/>
        </p:nvSpPr>
        <p:spPr>
          <a:xfrm>
            <a:off x="8188757" y="141732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atom_104"/>
          <p:cNvSpPr/>
          <p:nvPr/>
        </p:nvSpPr>
        <p:spPr>
          <a:xfrm>
            <a:off x="8508797" y="169164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5" name="atomLabel_105"/>
          <p:cNvSpPr txBox="1"/>
          <p:nvPr/>
        </p:nvSpPr>
        <p:spPr>
          <a:xfrm>
            <a:off x="8508797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_106"/>
          <p:cNvSpPr txBox="1"/>
          <p:nvPr/>
        </p:nvSpPr>
        <p:spPr>
          <a:xfrm>
            <a:off x="8508797" y="251460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type 別の出力と長い学習</a:t>
            </a:r>
            <a:endParaRPr lang="en-US" sz="2000" dirty="0"/>
          </a:p>
        </p:txBody>
      </p:sp>
      <p:sp>
        <p:nvSpPr>
          <p:cNvPr id="17" name="text_107"/>
          <p:cNvSpPr txBox="1"/>
          <p:nvPr/>
        </p:nvSpPr>
        <p:spPr>
          <a:xfrm>
            <a:off x="8508797" y="3429000"/>
            <a:ext cx="28142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type 別の出力層、type 別の fine-tune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 位は 8 type を 33 のサブタイプに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100〜1200 エポック回すのが普通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最初の方針：2 位方式をベースに</a:t>
            </a:r>
            <a:endParaRPr lang="en-US" sz="3200" dirty="0"/>
          </a:p>
        </p:txBody>
      </p:sp>
      <p:sp>
        <p:nvSpPr>
          <p:cNvPr id="3" name="text_108"/>
          <p:cNvSpPr txBox="1"/>
          <p:nvPr/>
        </p:nvSpPr>
        <p:spPr>
          <a:xfrm>
            <a:off x="548640" y="1417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条件</a:t>
            </a:r>
            <a:endParaRPr lang="en-US" sz="1800" dirty="0"/>
          </a:p>
        </p:txBody>
      </p:sp>
      <p:sp>
        <p:nvSpPr>
          <p:cNvPr id="4" name="box_109"/>
          <p:cNvSpPr/>
          <p:nvPr/>
        </p:nvSpPr>
        <p:spPr>
          <a:xfrm>
            <a:off x="548640" y="1920240"/>
            <a:ext cx="393192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5" name="boxText_110"/>
          <p:cNvSpPr txBox="1"/>
          <p:nvPr/>
        </p:nvSpPr>
        <p:spPr>
          <a:xfrm>
            <a:off x="658368" y="192024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シンプルなモデル</a:t>
            </a:r>
            <a:endParaRPr lang="en-US" sz="1500" dirty="0"/>
          </a:p>
        </p:txBody>
      </p:sp>
      <p:sp>
        <p:nvSpPr>
          <p:cNvPr id="6" name="box_111"/>
          <p:cNvSpPr/>
          <p:nvPr/>
        </p:nvSpPr>
        <p:spPr>
          <a:xfrm>
            <a:off x="548640" y="2606040"/>
            <a:ext cx="393192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7" name="boxText_112"/>
          <p:cNvSpPr txBox="1"/>
          <p:nvPr/>
        </p:nvSpPr>
        <p:spPr>
          <a:xfrm>
            <a:off x="658368" y="260604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Transformer を使いたい</a:t>
            </a:r>
            <a:endParaRPr lang="en-US" sz="1500" dirty="0"/>
          </a:p>
        </p:txBody>
      </p:sp>
      <p:sp>
        <p:nvSpPr>
          <p:cNvPr id="8" name="box_113"/>
          <p:cNvSpPr/>
          <p:nvPr/>
        </p:nvSpPr>
        <p:spPr>
          <a:xfrm>
            <a:off x="548640" y="3291840"/>
            <a:ext cx="393192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9" name="boxText_114"/>
          <p:cNvSpPr txBox="1"/>
          <p:nvPr/>
        </p:nvSpPr>
        <p:spPr>
          <a:xfrm>
            <a:off x="658368" y="329184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Colab Pro 1 か月（A100 で約 8〜18 時間）</a:t>
            </a:r>
            <a:endParaRPr lang="en-US" sz="1500" dirty="0"/>
          </a:p>
        </p:txBody>
      </p:sp>
      <p:sp>
        <p:nvSpPr>
          <p:cNvPr id="10" name="arrow_115"/>
          <p:cNvSpPr/>
          <p:nvPr/>
        </p:nvSpPr>
        <p:spPr>
          <a:xfrm>
            <a:off x="4709160" y="2743200"/>
            <a:ext cx="7315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1" name="card_116"/>
          <p:cNvSpPr/>
          <p:nvPr/>
        </p:nvSpPr>
        <p:spPr>
          <a:xfrm>
            <a:off x="5669280" y="1417320"/>
            <a:ext cx="5971032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_117"/>
          <p:cNvSpPr txBox="1"/>
          <p:nvPr/>
        </p:nvSpPr>
        <p:spPr>
          <a:xfrm>
            <a:off x="594360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 位（Quantum Uncertainty）の方式</a:t>
            </a:r>
            <a:endParaRPr lang="en-US" sz="1800" dirty="0"/>
          </a:p>
        </p:txBody>
      </p:sp>
      <p:sp>
        <p:nvSpPr>
          <p:cNvPr id="13" name="text_118"/>
          <p:cNvSpPr txBox="1"/>
          <p:nvPr/>
        </p:nvSpPr>
        <p:spPr>
          <a:xfrm>
            <a:off x="5943600" y="214884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入力は座標・原子種・type だけ。結合の推定も特徴量づくりもいらない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化学の知識なしで、単体モデルとして全チーム最強（-3.16）</a:t>
            </a:r>
            <a:endParaRPr lang="en-US" sz="1600" dirty="0"/>
          </a:p>
        </p:txBody>
      </p:sp>
      <p:sp>
        <p:nvSpPr>
          <p:cNvPr id="14" name="card_119"/>
          <p:cNvSpPr/>
          <p:nvPr/>
        </p:nvSpPr>
        <p:spPr>
          <a:xfrm>
            <a:off x="5669280" y="3977640"/>
            <a:ext cx="5971032" cy="1783080"/>
          </a:xfrm>
          <a:prstGeom prst="roundRect">
            <a:avLst>
              <a:gd name="adj" fmla="val 6154"/>
            </a:avLst>
          </a:prstGeom>
          <a:solidFill>
            <a:srgbClr val="F6EDE5"/>
          </a:solidFill>
          <a:ln w="9525">
            <a:solidFill>
              <a:srgbClr val="F6EDE5"/>
            </a:solidFill>
            <a:prstDash val="solid"/>
          </a:ln>
        </p:spPr>
      </p:sp>
      <p:sp>
        <p:nvSpPr>
          <p:cNvPr id="15" name="text_120"/>
          <p:cNvSpPr txBox="1"/>
          <p:nvPr/>
        </p:nvSpPr>
        <p:spPr>
          <a:xfrm>
            <a:off x="594360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ただし…</a:t>
            </a:r>
            <a:endParaRPr lang="en-US" sz="1800" dirty="0"/>
          </a:p>
        </p:txBody>
      </p:sp>
      <p:sp>
        <p:nvSpPr>
          <p:cNvPr id="16" name="text_121"/>
          <p:cNvSpPr txBox="1"/>
          <p:nvPr/>
        </p:nvSpPr>
        <p:spPr>
          <a:xfrm>
            <a:off x="5943600" y="46177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 位は GPU 十数台で数週間。同じ予算はない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→ まず EDA で「何が効くか」を自分で確かめる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EDA：上位の言うことは本当か</a:t>
            </a:r>
            <a:endParaRPr lang="en-US" sz="3200" dirty="0"/>
          </a:p>
        </p:txBody>
      </p:sp>
      <p:sp>
        <p:nvSpPr>
          <p:cNvPr id="3" name="text_122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1JHC は C の結合の仕方で大きく変わる</a:t>
            </a:r>
            <a:endParaRPr lang="en-US" sz="1600" dirty="0"/>
          </a:p>
        </p:txBody>
      </p:sp>
      <p:graphicFrame>
        <p:nvGraphicFramePr>
          <p:cNvPr id="4" name="chart_123" descr=""/>
          <p:cNvGraphicFramePr/>
          <p:nvPr/>
        </p:nvGraphicFramePr>
        <p:xfrm>
          <a:off x="548640" y="17373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_124"/>
          <p:cNvSpPr txBox="1"/>
          <p:nvPr/>
        </p:nvSpPr>
        <p:spPr>
          <a:xfrm>
            <a:off x="6035040" y="13258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3JHH は二面角で Karplus 曲線。中間の原子で曲線の形も変わる</a:t>
            </a:r>
            <a:endParaRPr lang="en-US" sz="1600" dirty="0"/>
          </a:p>
        </p:txBody>
      </p:sp>
      <p:pic>
        <p:nvPicPr>
          <p:cNvPr id="6" name="karplus_125" descr="/tmp/predicting-molecular-properties/notebooks/figs/06_karplus_by_pa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83080"/>
            <a:ext cx="5577840" cy="3070946"/>
          </a:xfrm>
          <a:prstGeom prst="rect">
            <a:avLst/>
          </a:prstGeom>
        </p:spPr>
      </p:pic>
      <p:sp>
        <p:nvSpPr>
          <p:cNvPr id="7" name="atom_126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8" name="atomLabel_127"/>
          <p:cNvSpPr txBox="1"/>
          <p:nvPr/>
        </p:nvSpPr>
        <p:spPr>
          <a:xfrm>
            <a:off x="548640" y="5486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◎</a:t>
            </a:r>
            <a:endParaRPr lang="en-US" sz="1800" dirty="0"/>
          </a:p>
        </p:txBody>
      </p:sp>
      <p:sp>
        <p:nvSpPr>
          <p:cNvPr id="9" name="text_128"/>
          <p:cNvSpPr txBox="1"/>
          <p:nvPr/>
        </p:nvSpPr>
        <p:spPr>
          <a:xfrm>
            <a:off x="1234440" y="554126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距離・混成（結合の数）・角度・二面角・経路上の原子は、どれもデータで裏付けあり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EDA：どれくらい効く？</a:t>
            </a:r>
            <a:endParaRPr lang="en-US" sz="3200" dirty="0"/>
          </a:p>
        </p:txBody>
      </p:sp>
      <p:graphicFrame>
        <p:nvGraphicFramePr>
          <p:cNvPr id="3" name="chart_129" descr=""/>
          <p:cNvGraphicFramePr/>
          <p:nvPr/>
        </p:nvGraphicFramePr>
        <p:xfrm>
          <a:off x="548640" y="13258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130"/>
          <p:cNvSpPr/>
          <p:nvPr/>
        </p:nvSpPr>
        <p:spPr>
          <a:xfrm>
            <a:off x="7680960" y="1325880"/>
            <a:ext cx="3959352" cy="4480560"/>
          </a:xfrm>
          <a:prstGeom prst="roundRect">
            <a:avLst>
              <a:gd name="adj" fmla="val 277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" name="text_131"/>
          <p:cNvSpPr txBox="1"/>
          <p:nvPr/>
        </p:nvSpPr>
        <p:spPr>
          <a:xfrm>
            <a:off x="8001000" y="16459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C14E"/>
                </a:solidFill>
              </a:rPr>
              <a:t>1.19 → 0.28</a:t>
            </a:r>
            <a:endParaRPr lang="en-US" sz="4000" dirty="0"/>
          </a:p>
        </p:txBody>
      </p:sp>
      <p:sp>
        <p:nvSpPr>
          <p:cNvPr id="6" name="text_132"/>
          <p:cNvSpPr txBox="1"/>
          <p:nvPr/>
        </p:nvSpPr>
        <p:spPr>
          <a:xfrm>
            <a:off x="8001000" y="25146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要素を組み合わせると、モデルなしでもここまで下がる</a:t>
            </a:r>
            <a:endParaRPr lang="en-US" sz="1500" dirty="0"/>
          </a:p>
        </p:txBody>
      </p:sp>
      <p:sp>
        <p:nvSpPr>
          <p:cNvPr id="7" name="text_133"/>
          <p:cNvSpPr txBox="1"/>
          <p:nvPr/>
        </p:nvSpPr>
        <p:spPr>
          <a:xfrm>
            <a:off x="8001000" y="3520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でも上位は -3.2</a:t>
            </a:r>
            <a:endParaRPr lang="en-US" sz="2200" dirty="0"/>
          </a:p>
        </p:txBody>
      </p:sp>
      <p:sp>
        <p:nvSpPr>
          <p:cNvPr id="8" name="text_134"/>
          <p:cNvSpPr txBox="1"/>
          <p:nvPr/>
        </p:nvSpPr>
        <p:spPr>
          <a:xfrm>
            <a:off x="8001000" y="40690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DB9B0"/>
                </a:solidFill>
              </a:rPr>
              <a:t>残りの差は、分子全体の文脈や要素どうしの複雑な組み合わせ → モデルに学ばせる部分</a:t>
            </a:r>
            <a:endParaRPr lang="en-US" sz="1500" dirty="0"/>
          </a:p>
        </p:txBody>
      </p:sp>
      <p:sp>
        <p:nvSpPr>
          <p:cNvPr id="9" name="text_135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分子単位で 8:2 に分け、8 割で「type × 特徴量のビン」ごとの中央値を作って 2 割を予測。score = type 別 log(MAE) の平均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なぜ Uni-Mol？</a:t>
            </a:r>
            <a:endParaRPr lang="en-US" sz="3200" dirty="0"/>
          </a:p>
        </p:txBody>
      </p:sp>
      <p:sp>
        <p:nvSpPr>
          <p:cNvPr id="3" name="text_136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B7DA8"/>
                </a:solidFill>
              </a:rPr>
              <a:t>2 位の真似では、予算的に再現が精一杯 → 2019 年以降に出てきた「3D 分子の事前学習モデル」を使う</a:t>
            </a:r>
            <a:endParaRPr lang="en-US" sz="1700" dirty="0"/>
          </a:p>
        </p:txBody>
      </p:sp>
      <p:sp>
        <p:nvSpPr>
          <p:cNvPr id="4" name="card_137"/>
          <p:cNvSpPr/>
          <p:nvPr/>
        </p:nvSpPr>
        <p:spPr>
          <a:xfrm>
            <a:off x="548640" y="1828800"/>
            <a:ext cx="536432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atom_138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6" name="atomLabel_139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_140"/>
          <p:cNvSpPr txBox="1"/>
          <p:nvPr/>
        </p:nvSpPr>
        <p:spPr>
          <a:xfrm>
            <a:off x="1600200" y="2130552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原子ペアの表現を持つ</a:t>
            </a:r>
            <a:endParaRPr lang="en-US" sz="1900" dirty="0"/>
          </a:p>
        </p:txBody>
      </p:sp>
      <p:sp>
        <p:nvSpPr>
          <p:cNvPr id="8" name="text_141"/>
          <p:cNvSpPr txBox="1"/>
          <p:nvPr/>
        </p:nvSpPr>
        <p:spPr>
          <a:xfrm>
            <a:off x="1600200" y="2697480"/>
            <a:ext cx="403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 はペアの値。1 位の「ペアもノードにする」発想に近いことを、事前学習付きでできる</a:t>
            </a:r>
            <a:endParaRPr lang="en-US" sz="1500" dirty="0"/>
          </a:p>
        </p:txBody>
      </p:sp>
      <p:sp>
        <p:nvSpPr>
          <p:cNvPr id="9" name="card_142"/>
          <p:cNvSpPr/>
          <p:nvPr/>
        </p:nvSpPr>
        <p:spPr>
          <a:xfrm>
            <a:off x="6278728" y="1828800"/>
            <a:ext cx="536432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atom_143"/>
          <p:cNvSpPr/>
          <p:nvPr/>
        </p:nvSpPr>
        <p:spPr>
          <a:xfrm>
            <a:off x="6553048" y="2103120"/>
            <a:ext cx="548640" cy="54864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1" name="atomLabel_144"/>
          <p:cNvSpPr txBox="1"/>
          <p:nvPr/>
        </p:nvSpPr>
        <p:spPr>
          <a:xfrm>
            <a:off x="6553048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_145"/>
          <p:cNvSpPr txBox="1"/>
          <p:nvPr/>
        </p:nvSpPr>
        <p:spPr>
          <a:xfrm>
            <a:off x="7330288" y="2130552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2.09 億個の 3D 構造で事前学習済み</a:t>
            </a:r>
            <a:endParaRPr lang="en-US" sz="1900" dirty="0"/>
          </a:p>
        </p:txBody>
      </p:sp>
      <p:sp>
        <p:nvSpPr>
          <p:cNvPr id="13" name="text_146"/>
          <p:cNvSpPr txBox="1"/>
          <p:nvPr/>
        </p:nvSpPr>
        <p:spPr>
          <a:xfrm>
            <a:off x="7330288" y="2697480"/>
            <a:ext cx="403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分子の形をすでに知っている → 少ない学習で早く精度が上がる</a:t>
            </a:r>
            <a:endParaRPr lang="en-US" sz="1500" dirty="0"/>
          </a:p>
        </p:txBody>
      </p:sp>
      <p:sp>
        <p:nvSpPr>
          <p:cNvPr id="14" name="card_147"/>
          <p:cNvSpPr/>
          <p:nvPr/>
        </p:nvSpPr>
        <p:spPr>
          <a:xfrm>
            <a:off x="548640" y="4069080"/>
            <a:ext cx="536432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atom_148"/>
          <p:cNvSpPr/>
          <p:nvPr/>
        </p:nvSpPr>
        <p:spPr>
          <a:xfrm>
            <a:off x="822960" y="4343400"/>
            <a:ext cx="548640" cy="54864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6" name="atomLabel_149"/>
          <p:cNvSpPr txBox="1"/>
          <p:nvPr/>
        </p:nvSpPr>
        <p:spPr>
          <a:xfrm>
            <a:off x="822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_150"/>
          <p:cNvSpPr txBox="1"/>
          <p:nvPr/>
        </p:nvSpPr>
        <p:spPr>
          <a:xfrm>
            <a:off x="1600200" y="4370832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 位方式より軽い</a:t>
            </a:r>
            <a:endParaRPr lang="en-US" sz="1900" dirty="0"/>
          </a:p>
        </p:txBody>
      </p:sp>
      <p:sp>
        <p:nvSpPr>
          <p:cNvPr id="18" name="text_151"/>
          <p:cNvSpPr txBox="1"/>
          <p:nvPr/>
        </p:nvSpPr>
        <p:spPr>
          <a:xfrm>
            <a:off x="1600200" y="4937760"/>
            <a:ext cx="403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 分子を 1 回処理すれば全ペアを予測できる（1 エポック約 8 万本。2 位方式は約 79〜140 万本）</a:t>
            </a:r>
            <a:endParaRPr lang="en-US" sz="1500" dirty="0"/>
          </a:p>
        </p:txBody>
      </p:sp>
      <p:sp>
        <p:nvSpPr>
          <p:cNvPr id="19" name="card_152"/>
          <p:cNvSpPr/>
          <p:nvPr/>
        </p:nvSpPr>
        <p:spPr>
          <a:xfrm>
            <a:off x="6278728" y="4069080"/>
            <a:ext cx="536432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atom_153"/>
          <p:cNvSpPr/>
          <p:nvPr/>
        </p:nvSpPr>
        <p:spPr>
          <a:xfrm>
            <a:off x="6553048" y="4343400"/>
            <a:ext cx="548640" cy="54864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1" name="atomLabel_154"/>
          <p:cNvSpPr txBox="1"/>
          <p:nvPr/>
        </p:nvSpPr>
        <p:spPr>
          <a:xfrm>
            <a:off x="6553048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_155"/>
          <p:cNvSpPr txBox="1"/>
          <p:nvPr/>
        </p:nvSpPr>
        <p:spPr>
          <a:xfrm>
            <a:off x="7330288" y="4370832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水素込みの重みがある</a:t>
            </a:r>
            <a:endParaRPr lang="en-US" sz="1900" dirty="0"/>
          </a:p>
        </p:txBody>
      </p:sp>
      <p:sp>
        <p:nvSpPr>
          <p:cNvPr id="23" name="text_156"/>
          <p:cNvSpPr txBox="1"/>
          <p:nvPr/>
        </p:nvSpPr>
        <p:spPr>
          <a:xfrm>
            <a:off x="7330288" y="4937760"/>
            <a:ext cx="403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 には必ず H が関わる。公開重み mol_pre_all_h（約 4,700 万パラメータ）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Uni-Mol の中身</a:t>
            </a:r>
            <a:endParaRPr lang="en-US" sz="3200" dirty="0"/>
          </a:p>
        </p:txBody>
      </p:sp>
      <p:sp>
        <p:nvSpPr>
          <p:cNvPr id="3" name="box_157"/>
          <p:cNvSpPr/>
          <p:nvPr/>
        </p:nvSpPr>
        <p:spPr>
          <a:xfrm>
            <a:off x="548640" y="1463040"/>
            <a:ext cx="24688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4" name="boxText_158"/>
          <p:cNvSpPr txBox="1"/>
          <p:nvPr/>
        </p:nvSpPr>
        <p:spPr>
          <a:xfrm>
            <a:off x="658368" y="14630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原子の種類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[CLS] C C O H … [SEP]</a:t>
            </a:r>
            <a:endParaRPr lang="en-US" sz="1400" dirty="0"/>
          </a:p>
        </p:txBody>
      </p:sp>
      <p:sp>
        <p:nvSpPr>
          <p:cNvPr id="5" name="box_159"/>
          <p:cNvSpPr/>
          <p:nvPr/>
        </p:nvSpPr>
        <p:spPr>
          <a:xfrm>
            <a:off x="548640" y="3108960"/>
            <a:ext cx="24688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6" name="boxText_160"/>
          <p:cNvSpPr txBox="1"/>
          <p:nvPr/>
        </p:nvSpPr>
        <p:spPr>
          <a:xfrm>
            <a:off x="658368" y="310896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3D 座標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（重心を原点に）</a:t>
            </a:r>
            <a:endParaRPr lang="en-US" sz="1400" dirty="0"/>
          </a:p>
        </p:txBody>
      </p:sp>
      <p:sp>
        <p:nvSpPr>
          <p:cNvPr id="7" name="arrow_161"/>
          <p:cNvSpPr/>
          <p:nvPr/>
        </p:nvSpPr>
        <p:spPr>
          <a:xfrm>
            <a:off x="3063240" y="192024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8" name="arrow_162"/>
          <p:cNvSpPr/>
          <p:nvPr/>
        </p:nvSpPr>
        <p:spPr>
          <a:xfrm>
            <a:off x="3063240" y="356616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9" name="box_163"/>
          <p:cNvSpPr/>
          <p:nvPr/>
        </p:nvSpPr>
        <p:spPr>
          <a:xfrm>
            <a:off x="3611880" y="146304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0" name="boxText_164"/>
          <p:cNvSpPr txBox="1"/>
          <p:nvPr/>
        </p:nvSpPr>
        <p:spPr>
          <a:xfrm>
            <a:off x="3721608" y="1463040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原子の埋め込み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（512 次元）</a:t>
            </a:r>
            <a:endParaRPr lang="en-US" sz="1400" dirty="0"/>
          </a:p>
        </p:txBody>
      </p:sp>
      <p:sp>
        <p:nvSpPr>
          <p:cNvPr id="11" name="box_165"/>
          <p:cNvSpPr/>
          <p:nvPr/>
        </p:nvSpPr>
        <p:spPr>
          <a:xfrm>
            <a:off x="3611880" y="31089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2" name="boxText_166"/>
          <p:cNvSpPr txBox="1"/>
          <p:nvPr/>
        </p:nvSpPr>
        <p:spPr>
          <a:xfrm>
            <a:off x="3721608" y="3108960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原子間距離をガウス関数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128 個で展開 → ペアのバイアス</a:t>
            </a:r>
            <a:endParaRPr lang="en-US" sz="1300" dirty="0"/>
          </a:p>
        </p:txBody>
      </p:sp>
      <p:sp>
        <p:nvSpPr>
          <p:cNvPr id="13" name="arrow_167"/>
          <p:cNvSpPr/>
          <p:nvPr/>
        </p:nvSpPr>
        <p:spPr>
          <a:xfrm>
            <a:off x="6309360" y="1920240"/>
            <a:ext cx="502920" cy="54864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4" name="arrow_168"/>
          <p:cNvSpPr/>
          <p:nvPr/>
        </p:nvSpPr>
        <p:spPr>
          <a:xfrm flipV="1">
            <a:off x="6309360" y="3017520"/>
            <a:ext cx="502920" cy="54864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5" name="card_169"/>
          <p:cNvSpPr/>
          <p:nvPr/>
        </p:nvSpPr>
        <p:spPr>
          <a:xfrm>
            <a:off x="6858000" y="1463040"/>
            <a:ext cx="2514600" cy="256032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_170"/>
          <p:cNvSpPr txBox="1"/>
          <p:nvPr/>
        </p:nvSpPr>
        <p:spPr>
          <a:xfrm>
            <a:off x="6995160" y="16002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Transformer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15 層</a:t>
            </a:r>
            <a:endParaRPr lang="en-US" sz="1800" dirty="0"/>
          </a:p>
        </p:txBody>
      </p:sp>
      <p:sp>
        <p:nvSpPr>
          <p:cNvPr id="17" name="text_171"/>
          <p:cNvSpPr txBox="1"/>
          <p:nvPr/>
        </p:nvSpPr>
        <p:spPr>
          <a:xfrm>
            <a:off x="7040880" y="2423160"/>
            <a:ext cx="2148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DB9B0"/>
                </a:solidFill>
              </a:rPr>
              <a:t>attention に距離のバイアスを足す。各層の attention スコアが、次の層のペア表現になる</a:t>
            </a:r>
            <a:endParaRPr lang="en-US" sz="1300" dirty="0"/>
          </a:p>
        </p:txBody>
      </p:sp>
      <p:sp>
        <p:nvSpPr>
          <p:cNvPr id="18" name="arrow_172"/>
          <p:cNvSpPr/>
          <p:nvPr/>
        </p:nvSpPr>
        <p:spPr>
          <a:xfrm>
            <a:off x="9418320" y="1920240"/>
            <a:ext cx="45720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9" name="arrow_173"/>
          <p:cNvSpPr/>
          <p:nvPr/>
        </p:nvSpPr>
        <p:spPr>
          <a:xfrm>
            <a:off x="9418320" y="3566160"/>
            <a:ext cx="45720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20" name="box_174"/>
          <p:cNvSpPr/>
          <p:nvPr/>
        </p:nvSpPr>
        <p:spPr>
          <a:xfrm>
            <a:off x="9921240" y="1463040"/>
            <a:ext cx="1719072" cy="914400"/>
          </a:xfrm>
          <a:prstGeom prst="roundRect">
            <a:avLst>
              <a:gd name="adj" fmla="val 10000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1" name="boxText_175"/>
          <p:cNvSpPr txBox="1"/>
          <p:nvPr/>
        </p:nvSpPr>
        <p:spPr>
          <a:xfrm>
            <a:off x="10030968" y="146304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原子の表現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512 次元</a:t>
            </a:r>
            <a:endParaRPr lang="en-US" sz="1400" dirty="0"/>
          </a:p>
        </p:txBody>
      </p:sp>
      <p:sp>
        <p:nvSpPr>
          <p:cNvPr id="22" name="box_176"/>
          <p:cNvSpPr/>
          <p:nvPr/>
        </p:nvSpPr>
        <p:spPr>
          <a:xfrm>
            <a:off x="9921240" y="3108960"/>
            <a:ext cx="1719072" cy="914400"/>
          </a:xfrm>
          <a:prstGeom prst="roundRect">
            <a:avLst>
              <a:gd name="adj" fmla="val 10000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3" name="boxText_177"/>
          <p:cNvSpPr txBox="1"/>
          <p:nvPr/>
        </p:nvSpPr>
        <p:spPr>
          <a:xfrm>
            <a:off x="10030968" y="310896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ペアの表現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64 次元</a:t>
            </a:r>
            <a:endParaRPr lang="en-US" sz="1400" dirty="0"/>
          </a:p>
        </p:txBody>
      </p:sp>
      <p:sp>
        <p:nvSpPr>
          <p:cNvPr id="24" name="card_178"/>
          <p:cNvSpPr/>
          <p:nvPr/>
        </p:nvSpPr>
        <p:spPr>
          <a:xfrm>
            <a:off x="548640" y="4526280"/>
            <a:ext cx="11094415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_179"/>
          <p:cNvSpPr txBox="1"/>
          <p:nvPr/>
        </p:nvSpPr>
        <p:spPr>
          <a:xfrm>
            <a:off x="822960" y="4709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事前学習（論文の設定）</a:t>
            </a:r>
            <a:endParaRPr lang="en-US" sz="1600" dirty="0"/>
          </a:p>
        </p:txBody>
      </p:sp>
      <p:sp>
        <p:nvSpPr>
          <p:cNvPr id="26" name="text_180"/>
          <p:cNvSpPr txBox="1"/>
          <p:nvPr/>
        </p:nvSpPr>
        <p:spPr>
          <a:xfrm>
            <a:off x="822960" y="51206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2.09 億個の分子の 3D 構造（RDKit で生成した配座）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① 隠した原子の種類を当てる　② ずらした座標・原子間距離を元に戻す</a:t>
            </a:r>
            <a:endParaRPr lang="en-US" sz="1600" dirty="0"/>
          </a:p>
        </p:txBody>
      </p:sp>
      <p:sp>
        <p:nvSpPr>
          <p:cNvPr id="27" name="text_181"/>
          <p:cNvSpPr txBox="1"/>
          <p:nvPr/>
        </p:nvSpPr>
        <p:spPr>
          <a:xfrm>
            <a:off x="8503920" y="4846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 層・512 次元・64 ヘッド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約 4,700 万パラメータ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使った特徴量</a:t>
            </a:r>
            <a:endParaRPr lang="en-US" sz="3200" dirty="0"/>
          </a:p>
        </p:txBody>
      </p:sp>
      <p:sp>
        <p:nvSpPr>
          <p:cNvPr id="3" name="atom_182"/>
          <p:cNvSpPr/>
          <p:nvPr/>
        </p:nvSpPr>
        <p:spPr>
          <a:xfrm>
            <a:off x="548640" y="1325880"/>
            <a:ext cx="566928" cy="566928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4" name="atomLabel_183"/>
          <p:cNvSpPr txBox="1"/>
          <p:nvPr/>
        </p:nvSpPr>
        <p:spPr>
          <a:xfrm>
            <a:off x="54864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</a:t>
            </a:r>
            <a:endParaRPr lang="en-US" sz="2000" dirty="0"/>
          </a:p>
        </p:txBody>
      </p:sp>
      <p:sp>
        <p:nvSpPr>
          <p:cNvPr id="5" name="text_184"/>
          <p:cNvSpPr txBox="1"/>
          <p:nvPr/>
        </p:nvSpPr>
        <p:spPr>
          <a:xfrm>
            <a:off x="132588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入力は原子の種類と座標だけ。手作りの特徴量はゼロ</a:t>
            </a:r>
            <a:endParaRPr lang="en-US" sz="2000" dirty="0"/>
          </a:p>
        </p:txBody>
      </p:sp>
      <p:graphicFrame>
        <p:nvGraphicFramePr>
          <p:cNvPr id="13" name="table_1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EDA で効いた要素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Uni-Mol の中でどう表されるか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距離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ガウス関数で展開して、attention に直接入る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混成（結合の数）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周りの原子との距離のパターンから分かる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2J の角度・3J の二面角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3〜4 原子の距離の組で決まる → 層を重ねてペア表現が学ぶ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経路上の原子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attention で、周りの原子の情報を集める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J を出す部分で、type の埋め込みとして入れる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</a:tbl>
          </a:graphicData>
        </a:graphic>
      </p:graphicFrame>
      <p:sp>
        <p:nvSpPr>
          <p:cNvPr id="7" name="card_186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6EDE5"/>
          </a:solidFill>
          <a:ln w="9525">
            <a:solidFill>
              <a:srgbClr val="F6EDE5"/>
            </a:solidFill>
            <a:prstDash val="solid"/>
          </a:ln>
        </p:spPr>
      </p:sp>
      <p:sp>
        <p:nvSpPr>
          <p:cNvPr id="8" name="text_187"/>
          <p:cNvSpPr txBox="1"/>
          <p:nvPr/>
        </p:nvSpPr>
        <p:spPr>
          <a:xfrm>
            <a:off x="822960" y="53492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確認：事前学習の距離予測部分にペア表現を入れると、原子間距離を誤差 0.05Å で再現できた → ペア表現は分子の形を知っている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Uni-Mol の動かし方</a:t>
            </a:r>
            <a:endParaRPr lang="en-US" sz="3200" dirty="0"/>
          </a:p>
        </p:txBody>
      </p:sp>
      <p:sp>
        <p:nvSpPr>
          <p:cNvPr id="3" name="atom_188"/>
          <p:cNvSpPr/>
          <p:nvPr/>
        </p:nvSpPr>
        <p:spPr>
          <a:xfrm>
            <a:off x="548640" y="1371600"/>
            <a:ext cx="530352" cy="530352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4" name="atomLabel_189"/>
          <p:cNvSpPr txBox="1"/>
          <p:nvPr/>
        </p:nvSpPr>
        <p:spPr>
          <a:xfrm>
            <a:off x="548640" y="13716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bond_190"/>
          <p:cNvSpPr/>
          <p:nvPr/>
        </p:nvSpPr>
        <p:spPr>
          <a:xfrm>
            <a:off x="813816" y="1901952"/>
            <a:ext cx="0" cy="676656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6" name="text_191"/>
          <p:cNvSpPr txBox="1"/>
          <p:nvPr/>
        </p:nvSpPr>
        <p:spPr>
          <a:xfrm>
            <a:off x="1280160" y="135331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重みを取ってくる</a:t>
            </a:r>
            <a:endParaRPr lang="en-US" sz="1700" dirty="0"/>
          </a:p>
        </p:txBody>
      </p:sp>
      <p:sp>
        <p:nvSpPr>
          <p:cNvPr id="7" name="text_192"/>
          <p:cNvSpPr txBox="1"/>
          <p:nvPr/>
        </p:nvSpPr>
        <p:spPr>
          <a:xfrm>
            <a:off x="1280160" y="1700784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Hugging Face の dptech/Uni-Mol-Models から mol_pre_all_h_220816.pt（水素込み）と mol.dict.txt</a:t>
            </a:r>
            <a:endParaRPr lang="en-US" sz="1300" dirty="0"/>
          </a:p>
        </p:txBody>
      </p:sp>
      <p:sp>
        <p:nvSpPr>
          <p:cNvPr id="8" name="atom_193"/>
          <p:cNvSpPr/>
          <p:nvPr/>
        </p:nvSpPr>
        <p:spPr>
          <a:xfrm>
            <a:off x="548640" y="2578608"/>
            <a:ext cx="530352" cy="530352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9" name="atomLabel_194"/>
          <p:cNvSpPr txBox="1"/>
          <p:nvPr/>
        </p:nvSpPr>
        <p:spPr>
          <a:xfrm>
            <a:off x="548640" y="25786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bond_195"/>
          <p:cNvSpPr/>
          <p:nvPr/>
        </p:nvSpPr>
        <p:spPr>
          <a:xfrm>
            <a:off x="813816" y="3108960"/>
            <a:ext cx="0" cy="676656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11" name="text_196"/>
          <p:cNvSpPr txBox="1"/>
          <p:nvPr/>
        </p:nvSpPr>
        <p:spPr>
          <a:xfrm>
            <a:off x="1280160" y="256032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入力を Uni-Mol の形にする</a:t>
            </a:r>
            <a:endParaRPr lang="en-US" sz="1700" dirty="0"/>
          </a:p>
        </p:txBody>
      </p:sp>
      <p:sp>
        <p:nvSpPr>
          <p:cNvPr id="12" name="text_197"/>
          <p:cNvSpPr txBox="1"/>
          <p:nvPr/>
        </p:nvSpPr>
        <p:spPr>
          <a:xfrm>
            <a:off x="128016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語彙の番号、[CLS] 原子… [SEP] の並び、重心を原点にした座標、ペアの位置 +1（次のスライド）</a:t>
            </a:r>
            <a:endParaRPr lang="en-US" sz="1300" dirty="0"/>
          </a:p>
        </p:txBody>
      </p:sp>
      <p:sp>
        <p:nvSpPr>
          <p:cNvPr id="13" name="atom_198"/>
          <p:cNvSpPr/>
          <p:nvPr/>
        </p:nvSpPr>
        <p:spPr>
          <a:xfrm>
            <a:off x="548640" y="3785616"/>
            <a:ext cx="530352" cy="530352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4" name="atomLabel_199"/>
          <p:cNvSpPr txBox="1"/>
          <p:nvPr/>
        </p:nvSpPr>
        <p:spPr>
          <a:xfrm>
            <a:off x="548640" y="37856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bond_200"/>
          <p:cNvSpPr/>
          <p:nvPr/>
        </p:nvSpPr>
        <p:spPr>
          <a:xfrm>
            <a:off x="813816" y="4315968"/>
            <a:ext cx="0" cy="676656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16" name="text_201"/>
          <p:cNvSpPr txBox="1"/>
          <p:nvPr/>
        </p:nvSpPr>
        <p:spPr>
          <a:xfrm>
            <a:off x="1280160" y="376732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読み込めたか確かめる</a:t>
            </a:r>
            <a:endParaRPr lang="en-US" sz="1700" dirty="0"/>
          </a:p>
        </p:txBody>
      </p:sp>
      <p:sp>
        <p:nvSpPr>
          <p:cNvPr id="17" name="text_202"/>
          <p:cNvSpPr txBox="1"/>
          <p:nvPr/>
        </p:nvSpPr>
        <p:spPr>
          <a:xfrm>
            <a:off x="1280160" y="41148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事前学習の距離予測部分で原子間距離を再現 → 誤差 0.05Å（最初は 0.98Å：使う表現を取り違えていた）</a:t>
            </a:r>
            <a:endParaRPr lang="en-US" sz="1300" dirty="0"/>
          </a:p>
        </p:txBody>
      </p:sp>
      <p:sp>
        <p:nvSpPr>
          <p:cNvPr id="18" name="atom_203"/>
          <p:cNvSpPr/>
          <p:nvPr/>
        </p:nvSpPr>
        <p:spPr>
          <a:xfrm>
            <a:off x="548640" y="4992624"/>
            <a:ext cx="530352" cy="530352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9" name="atomLabel_204"/>
          <p:cNvSpPr txBox="1"/>
          <p:nvPr/>
        </p:nvSpPr>
        <p:spPr>
          <a:xfrm>
            <a:off x="548640" y="49926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_205"/>
          <p:cNvSpPr txBox="1"/>
          <p:nvPr/>
        </p:nvSpPr>
        <p:spPr>
          <a:xfrm>
            <a:off x="1280160" y="4974336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J を出す部分を付けて fine-tune</a:t>
            </a:r>
            <a:endParaRPr lang="en-US" sz="1700" dirty="0"/>
          </a:p>
        </p:txBody>
      </p:sp>
      <p:sp>
        <p:nvSpPr>
          <p:cNvPr id="21" name="text_206"/>
          <p:cNvSpPr txBox="1"/>
          <p:nvPr/>
        </p:nvSpPr>
        <p:spPr>
          <a:xfrm>
            <a:off x="1280160" y="532180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手元の Mac で数百分子だけ動作確認 → VS Code の Colab 拡張で A100（1 エポック約 1.1 分）</a:t>
            </a:r>
            <a:endParaRPr lang="en-US" sz="1300" dirty="0"/>
          </a:p>
        </p:txBody>
      </p:sp>
      <p:sp>
        <p:nvSpPr>
          <p:cNvPr id="22" name="card_207"/>
          <p:cNvSpPr/>
          <p:nvPr/>
        </p:nvSpPr>
        <p:spPr>
          <a:xfrm>
            <a:off x="7498080" y="1325880"/>
            <a:ext cx="4142232" cy="4800600"/>
          </a:xfrm>
          <a:prstGeom prst="roundRect">
            <a:avLst>
              <a:gd name="adj" fmla="val 264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_208"/>
          <p:cNvSpPr txBox="1"/>
          <p:nvPr/>
        </p:nvSpPr>
        <p:spPr>
          <a:xfrm>
            <a:off x="777240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C14E"/>
                </a:solidFill>
              </a:rPr>
              <a:t>重みの読み込み（要点）</a:t>
            </a:r>
            <a:endParaRPr lang="en-US" sz="1500" dirty="0"/>
          </a:p>
        </p:txBody>
      </p:sp>
      <p:sp>
        <p:nvSpPr>
          <p:cNvPr id="24" name="text_209"/>
          <p:cNvSpPr txBox="1"/>
          <p:nvPr/>
        </p:nvSpPr>
        <p:spPr>
          <a:xfrm>
            <a:off x="7772400" y="196596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torch.load(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'mol_pre_all_h_220816.pt',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weights_only=True)['model']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backbone = UniMolBackbone()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backbone.load_state_dict(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state, strict=False)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DB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読み込めない重み: なし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DB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使わない部分: lm_head,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DB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dist_head, pair2coord_proj</a:t>
            </a:r>
            <a:endParaRPr lang="en-US" sz="1300" dirty="0"/>
          </a:p>
        </p:txBody>
      </p:sp>
      <p:sp>
        <p:nvSpPr>
          <p:cNvPr id="25" name="text_210"/>
          <p:cNvSpPr txBox="1"/>
          <p:nvPr/>
        </p:nvSpPr>
        <p:spPr>
          <a:xfrm>
            <a:off x="7772400" y="5257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9B0"/>
                </a:solidFill>
              </a:rPr>
              <a:t>unimol_tools は PyTorch 2.4 以上が必要で Intel Mac に入らない → 本体のコードだけ移植（MIT）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入力を Uni-Mol の形にする</a:t>
            </a:r>
            <a:endParaRPr lang="en-US" sz="3200" dirty="0"/>
          </a:p>
        </p:txBody>
      </p:sp>
      <p:sp>
        <p:nvSpPr>
          <p:cNvPr id="3" name="text_211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7DA8"/>
                </a:solidFill>
              </a:rPr>
              <a:t>例：メタノール（CH₃OH）1 分子</a:t>
            </a:r>
            <a:endParaRPr lang="en-US" sz="1400" dirty="0"/>
          </a:p>
        </p:txBody>
      </p:sp>
      <p:sp>
        <p:nvSpPr>
          <p:cNvPr id="4" name="text_212"/>
          <p:cNvSpPr txBox="1"/>
          <p:nvPr/>
        </p:nvSpPr>
        <p:spPr>
          <a:xfrm>
            <a:off x="548640" y="1645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位置</a:t>
            </a:r>
            <a:endParaRPr lang="en-US" sz="1200" dirty="0"/>
          </a:p>
        </p:txBody>
      </p:sp>
      <p:sp>
        <p:nvSpPr>
          <p:cNvPr id="5" name="text_213"/>
          <p:cNvSpPr txBox="1"/>
          <p:nvPr/>
        </p:nvSpPr>
        <p:spPr>
          <a:xfrm>
            <a:off x="548640" y="20574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トークン</a:t>
            </a:r>
            <a:endParaRPr lang="en-US" sz="1200" dirty="0"/>
          </a:p>
        </p:txBody>
      </p:sp>
      <p:sp>
        <p:nvSpPr>
          <p:cNvPr id="6" name="text_214"/>
          <p:cNvSpPr txBox="1"/>
          <p:nvPr/>
        </p:nvSpPr>
        <p:spPr>
          <a:xfrm>
            <a:off x="548640" y="25420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語彙の ID</a:t>
            </a:r>
            <a:endParaRPr lang="en-US" sz="1200" dirty="0"/>
          </a:p>
        </p:txBody>
      </p:sp>
      <p:sp>
        <p:nvSpPr>
          <p:cNvPr id="7" name="text_215"/>
          <p:cNvSpPr txBox="1"/>
          <p:nvPr/>
        </p:nvSpPr>
        <p:spPr>
          <a:xfrm>
            <a:off x="548640" y="2834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atom_index</a:t>
            </a:r>
            <a:endParaRPr lang="en-US" sz="1200" dirty="0"/>
          </a:p>
        </p:txBody>
      </p:sp>
      <p:sp>
        <p:nvSpPr>
          <p:cNvPr id="8" name="text_216"/>
          <p:cNvSpPr txBox="1"/>
          <p:nvPr/>
        </p:nvSpPr>
        <p:spPr>
          <a:xfrm>
            <a:off x="548640" y="31272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座標</a:t>
            </a:r>
            <a:endParaRPr lang="en-US" sz="1200" dirty="0"/>
          </a:p>
        </p:txBody>
      </p:sp>
      <p:sp>
        <p:nvSpPr>
          <p:cNvPr id="9" name="text_217"/>
          <p:cNvSpPr txBox="1"/>
          <p:nvPr/>
        </p:nvSpPr>
        <p:spPr>
          <a:xfrm>
            <a:off x="1965960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0</a:t>
            </a:r>
            <a:endParaRPr lang="en-US" sz="1200" dirty="0"/>
          </a:p>
        </p:txBody>
      </p:sp>
      <p:sp>
        <p:nvSpPr>
          <p:cNvPr id="10" name="box_218"/>
          <p:cNvSpPr/>
          <p:nvPr/>
        </p:nvSpPr>
        <p:spPr>
          <a:xfrm>
            <a:off x="1965960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7424A"/>
          </a:solidFill>
          <a:ln w="12700">
            <a:solidFill>
              <a:srgbClr val="17424A"/>
            </a:solidFill>
            <a:prstDash val="solid"/>
          </a:ln>
        </p:spPr>
      </p:sp>
      <p:sp>
        <p:nvSpPr>
          <p:cNvPr id="11" name="boxText_219"/>
          <p:cNvSpPr txBox="1"/>
          <p:nvPr/>
        </p:nvSpPr>
        <p:spPr>
          <a:xfrm>
            <a:off x="2075688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[CLS]</a:t>
            </a:r>
            <a:endParaRPr lang="en-US" sz="1400" dirty="0"/>
          </a:p>
        </p:txBody>
      </p:sp>
      <p:sp>
        <p:nvSpPr>
          <p:cNvPr id="12" name="text_220"/>
          <p:cNvSpPr txBox="1"/>
          <p:nvPr/>
        </p:nvSpPr>
        <p:spPr>
          <a:xfrm>
            <a:off x="1965960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_221"/>
          <p:cNvSpPr txBox="1"/>
          <p:nvPr/>
        </p:nvSpPr>
        <p:spPr>
          <a:xfrm>
            <a:off x="196596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B9B0"/>
                </a:solidFill>
              </a:rPr>
              <a:t>—</a:t>
            </a:r>
            <a:endParaRPr lang="en-US" sz="1300" dirty="0"/>
          </a:p>
        </p:txBody>
      </p:sp>
      <p:sp>
        <p:nvSpPr>
          <p:cNvPr id="14" name="text_222"/>
          <p:cNvSpPr txBox="1"/>
          <p:nvPr/>
        </p:nvSpPr>
        <p:spPr>
          <a:xfrm>
            <a:off x="1965960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9B0"/>
                </a:solidFill>
              </a:rPr>
              <a:t>原点</a:t>
            </a:r>
            <a:endParaRPr lang="en-US" sz="1100" dirty="0"/>
          </a:p>
        </p:txBody>
      </p:sp>
      <p:sp>
        <p:nvSpPr>
          <p:cNvPr id="15" name="text_223"/>
          <p:cNvSpPr txBox="1"/>
          <p:nvPr/>
        </p:nvSpPr>
        <p:spPr>
          <a:xfrm>
            <a:off x="3035808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1</a:t>
            </a:r>
            <a:endParaRPr lang="en-US" sz="1200" dirty="0"/>
          </a:p>
        </p:txBody>
      </p:sp>
      <p:sp>
        <p:nvSpPr>
          <p:cNvPr id="16" name="box_224"/>
          <p:cNvSpPr/>
          <p:nvPr/>
        </p:nvSpPr>
        <p:spPr>
          <a:xfrm>
            <a:off x="3035808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7" name="boxText_225"/>
          <p:cNvSpPr txBox="1"/>
          <p:nvPr/>
        </p:nvSpPr>
        <p:spPr>
          <a:xfrm>
            <a:off x="3145536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8" name="text_226"/>
          <p:cNvSpPr txBox="1"/>
          <p:nvPr/>
        </p:nvSpPr>
        <p:spPr>
          <a:xfrm>
            <a:off x="3035808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_227"/>
          <p:cNvSpPr txBox="1"/>
          <p:nvPr/>
        </p:nvSpPr>
        <p:spPr>
          <a:xfrm>
            <a:off x="3035808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0</a:t>
            </a:r>
            <a:endParaRPr lang="en-US" sz="1300" dirty="0"/>
          </a:p>
        </p:txBody>
      </p:sp>
      <p:sp>
        <p:nvSpPr>
          <p:cNvPr id="20" name="text_228"/>
          <p:cNvSpPr txBox="1"/>
          <p:nvPr/>
        </p:nvSpPr>
        <p:spPr>
          <a:xfrm>
            <a:off x="3035808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21" name="text_229"/>
          <p:cNvSpPr txBox="1"/>
          <p:nvPr/>
        </p:nvSpPr>
        <p:spPr>
          <a:xfrm>
            <a:off x="4105656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box_230"/>
          <p:cNvSpPr/>
          <p:nvPr/>
        </p:nvSpPr>
        <p:spPr>
          <a:xfrm>
            <a:off x="4105656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23" name="boxText_231"/>
          <p:cNvSpPr txBox="1"/>
          <p:nvPr/>
        </p:nvSpPr>
        <p:spPr>
          <a:xfrm>
            <a:off x="4215384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</a:t>
            </a:r>
            <a:endParaRPr lang="en-US" sz="1400" dirty="0"/>
          </a:p>
        </p:txBody>
      </p:sp>
      <p:sp>
        <p:nvSpPr>
          <p:cNvPr id="24" name="text_232"/>
          <p:cNvSpPr txBox="1"/>
          <p:nvPr/>
        </p:nvSpPr>
        <p:spPr>
          <a:xfrm>
            <a:off x="4105656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_233"/>
          <p:cNvSpPr txBox="1"/>
          <p:nvPr/>
        </p:nvSpPr>
        <p:spPr>
          <a:xfrm>
            <a:off x="4105656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_234"/>
          <p:cNvSpPr txBox="1"/>
          <p:nvPr/>
        </p:nvSpPr>
        <p:spPr>
          <a:xfrm>
            <a:off x="4105656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27" name="text_235"/>
          <p:cNvSpPr txBox="1"/>
          <p:nvPr/>
        </p:nvSpPr>
        <p:spPr>
          <a:xfrm>
            <a:off x="5175504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box_236"/>
          <p:cNvSpPr/>
          <p:nvPr/>
        </p:nvSpPr>
        <p:spPr>
          <a:xfrm>
            <a:off x="5175504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29" name="boxText_237"/>
          <p:cNvSpPr txBox="1"/>
          <p:nvPr/>
        </p:nvSpPr>
        <p:spPr>
          <a:xfrm>
            <a:off x="5285232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30" name="text_238"/>
          <p:cNvSpPr txBox="1"/>
          <p:nvPr/>
        </p:nvSpPr>
        <p:spPr>
          <a:xfrm>
            <a:off x="5175504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1" name="text_239"/>
          <p:cNvSpPr txBox="1"/>
          <p:nvPr/>
        </p:nvSpPr>
        <p:spPr>
          <a:xfrm>
            <a:off x="5175504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2</a:t>
            </a:r>
            <a:endParaRPr lang="en-US" sz="1300" dirty="0"/>
          </a:p>
        </p:txBody>
      </p:sp>
      <p:sp>
        <p:nvSpPr>
          <p:cNvPr id="32" name="text_240"/>
          <p:cNvSpPr txBox="1"/>
          <p:nvPr/>
        </p:nvSpPr>
        <p:spPr>
          <a:xfrm>
            <a:off x="5175504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33" name="text_241"/>
          <p:cNvSpPr txBox="1"/>
          <p:nvPr/>
        </p:nvSpPr>
        <p:spPr>
          <a:xfrm>
            <a:off x="6245352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4</a:t>
            </a:r>
            <a:endParaRPr lang="en-US" sz="1200" dirty="0"/>
          </a:p>
        </p:txBody>
      </p:sp>
      <p:sp>
        <p:nvSpPr>
          <p:cNvPr id="34" name="box_242"/>
          <p:cNvSpPr/>
          <p:nvPr/>
        </p:nvSpPr>
        <p:spPr>
          <a:xfrm>
            <a:off x="6245352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35" name="boxText_243"/>
          <p:cNvSpPr txBox="1"/>
          <p:nvPr/>
        </p:nvSpPr>
        <p:spPr>
          <a:xfrm>
            <a:off x="6355080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36" name="text_244"/>
          <p:cNvSpPr txBox="1"/>
          <p:nvPr/>
        </p:nvSpPr>
        <p:spPr>
          <a:xfrm>
            <a:off x="6245352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7" name="text_245"/>
          <p:cNvSpPr txBox="1"/>
          <p:nvPr/>
        </p:nvSpPr>
        <p:spPr>
          <a:xfrm>
            <a:off x="6245352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3</a:t>
            </a:r>
            <a:endParaRPr lang="en-US" sz="1300" dirty="0"/>
          </a:p>
        </p:txBody>
      </p:sp>
      <p:sp>
        <p:nvSpPr>
          <p:cNvPr id="38" name="text_246"/>
          <p:cNvSpPr txBox="1"/>
          <p:nvPr/>
        </p:nvSpPr>
        <p:spPr>
          <a:xfrm>
            <a:off x="6245352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39" name="text_247"/>
          <p:cNvSpPr txBox="1"/>
          <p:nvPr/>
        </p:nvSpPr>
        <p:spPr>
          <a:xfrm>
            <a:off x="7315200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5</a:t>
            </a:r>
            <a:endParaRPr lang="en-US" sz="1200" dirty="0"/>
          </a:p>
        </p:txBody>
      </p:sp>
      <p:sp>
        <p:nvSpPr>
          <p:cNvPr id="40" name="box_248"/>
          <p:cNvSpPr/>
          <p:nvPr/>
        </p:nvSpPr>
        <p:spPr>
          <a:xfrm>
            <a:off x="7315200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41" name="boxText_249"/>
          <p:cNvSpPr txBox="1"/>
          <p:nvPr/>
        </p:nvSpPr>
        <p:spPr>
          <a:xfrm>
            <a:off x="7424928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42" name="text_250"/>
          <p:cNvSpPr txBox="1"/>
          <p:nvPr/>
        </p:nvSpPr>
        <p:spPr>
          <a:xfrm>
            <a:off x="7315200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43" name="text_251"/>
          <p:cNvSpPr txBox="1"/>
          <p:nvPr/>
        </p:nvSpPr>
        <p:spPr>
          <a:xfrm>
            <a:off x="731520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text_252"/>
          <p:cNvSpPr txBox="1"/>
          <p:nvPr/>
        </p:nvSpPr>
        <p:spPr>
          <a:xfrm>
            <a:off x="7315200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45" name="text_253"/>
          <p:cNvSpPr txBox="1"/>
          <p:nvPr/>
        </p:nvSpPr>
        <p:spPr>
          <a:xfrm>
            <a:off x="8385048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box_254"/>
          <p:cNvSpPr/>
          <p:nvPr/>
        </p:nvSpPr>
        <p:spPr>
          <a:xfrm>
            <a:off x="8385048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47" name="boxText_255"/>
          <p:cNvSpPr txBox="1"/>
          <p:nvPr/>
        </p:nvSpPr>
        <p:spPr>
          <a:xfrm>
            <a:off x="8494776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48" name="text_256"/>
          <p:cNvSpPr txBox="1"/>
          <p:nvPr/>
        </p:nvSpPr>
        <p:spPr>
          <a:xfrm>
            <a:off x="8385048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_257"/>
          <p:cNvSpPr txBox="1"/>
          <p:nvPr/>
        </p:nvSpPr>
        <p:spPr>
          <a:xfrm>
            <a:off x="8385048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text_258"/>
          <p:cNvSpPr txBox="1"/>
          <p:nvPr/>
        </p:nvSpPr>
        <p:spPr>
          <a:xfrm>
            <a:off x="8385048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51" name="text_259"/>
          <p:cNvSpPr txBox="1"/>
          <p:nvPr/>
        </p:nvSpPr>
        <p:spPr>
          <a:xfrm>
            <a:off x="9454896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box_260"/>
          <p:cNvSpPr/>
          <p:nvPr/>
        </p:nvSpPr>
        <p:spPr>
          <a:xfrm>
            <a:off x="9454896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7424A"/>
          </a:solidFill>
          <a:ln w="12700">
            <a:solidFill>
              <a:srgbClr val="17424A"/>
            </a:solidFill>
            <a:prstDash val="solid"/>
          </a:ln>
        </p:spPr>
      </p:sp>
      <p:sp>
        <p:nvSpPr>
          <p:cNvPr id="53" name="boxText_261"/>
          <p:cNvSpPr txBox="1"/>
          <p:nvPr/>
        </p:nvSpPr>
        <p:spPr>
          <a:xfrm>
            <a:off x="9564624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[SEP]</a:t>
            </a:r>
            <a:endParaRPr lang="en-US" sz="1400" dirty="0"/>
          </a:p>
        </p:txBody>
      </p:sp>
      <p:sp>
        <p:nvSpPr>
          <p:cNvPr id="54" name="text_262"/>
          <p:cNvSpPr txBox="1"/>
          <p:nvPr/>
        </p:nvSpPr>
        <p:spPr>
          <a:xfrm>
            <a:off x="9454896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55" name="text_263"/>
          <p:cNvSpPr txBox="1"/>
          <p:nvPr/>
        </p:nvSpPr>
        <p:spPr>
          <a:xfrm>
            <a:off x="9454896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B9B0"/>
                </a:solidFill>
              </a:rPr>
              <a:t>—</a:t>
            </a:r>
            <a:endParaRPr lang="en-US" sz="1300" dirty="0"/>
          </a:p>
        </p:txBody>
      </p:sp>
      <p:sp>
        <p:nvSpPr>
          <p:cNvPr id="56" name="text_264"/>
          <p:cNvSpPr txBox="1"/>
          <p:nvPr/>
        </p:nvSpPr>
        <p:spPr>
          <a:xfrm>
            <a:off x="9454896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9B0"/>
                </a:solidFill>
              </a:rPr>
              <a:t>原点</a:t>
            </a:r>
            <a:endParaRPr lang="en-US" sz="1100" dirty="0"/>
          </a:p>
        </p:txBody>
      </p:sp>
      <p:sp>
        <p:nvSpPr>
          <p:cNvPr id="57" name="text_265"/>
          <p:cNvSpPr txBox="1"/>
          <p:nvPr/>
        </p:nvSpPr>
        <p:spPr>
          <a:xfrm>
            <a:off x="10524744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8</a:t>
            </a:r>
            <a:endParaRPr lang="en-US" sz="1200" dirty="0"/>
          </a:p>
        </p:txBody>
      </p:sp>
      <p:sp>
        <p:nvSpPr>
          <p:cNvPr id="58" name="box_266"/>
          <p:cNvSpPr/>
          <p:nvPr/>
        </p:nvSpPr>
        <p:spPr>
          <a:xfrm>
            <a:off x="10524744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EAF2F1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59" name="boxText_267"/>
          <p:cNvSpPr txBox="1"/>
          <p:nvPr/>
        </p:nvSpPr>
        <p:spPr>
          <a:xfrm>
            <a:off x="10634472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7DA8"/>
                </a:solidFill>
              </a:rPr>
              <a:t>[PAD]</a:t>
            </a:r>
            <a:endParaRPr lang="en-US" sz="1400" dirty="0"/>
          </a:p>
        </p:txBody>
      </p:sp>
      <p:sp>
        <p:nvSpPr>
          <p:cNvPr id="60" name="text_268"/>
          <p:cNvSpPr txBox="1"/>
          <p:nvPr/>
        </p:nvSpPr>
        <p:spPr>
          <a:xfrm>
            <a:off x="10524744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</a:t>
            </a:r>
            <a:endParaRPr lang="en-US" sz="1300" dirty="0"/>
          </a:p>
        </p:txBody>
      </p:sp>
      <p:sp>
        <p:nvSpPr>
          <p:cNvPr id="61" name="text_269"/>
          <p:cNvSpPr txBox="1"/>
          <p:nvPr/>
        </p:nvSpPr>
        <p:spPr>
          <a:xfrm>
            <a:off x="10524744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B9B0"/>
                </a:solidFill>
              </a:rPr>
              <a:t>—</a:t>
            </a:r>
            <a:endParaRPr lang="en-US" sz="1300" dirty="0"/>
          </a:p>
        </p:txBody>
      </p:sp>
      <p:sp>
        <p:nvSpPr>
          <p:cNvPr id="62" name="text_270"/>
          <p:cNvSpPr txBox="1"/>
          <p:nvPr/>
        </p:nvSpPr>
        <p:spPr>
          <a:xfrm>
            <a:off x="10524744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9B0"/>
                </a:solidFill>
              </a:rPr>
              <a:t>原点</a:t>
            </a:r>
            <a:endParaRPr lang="en-US" sz="1100" dirty="0"/>
          </a:p>
        </p:txBody>
      </p:sp>
      <p:sp>
        <p:nvSpPr>
          <p:cNvPr id="63" name="card_271"/>
          <p:cNvSpPr/>
          <p:nvPr/>
        </p:nvSpPr>
        <p:spPr>
          <a:xfrm>
            <a:off x="548640" y="3611880"/>
            <a:ext cx="5410048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4" name="atom_272"/>
          <p:cNvSpPr/>
          <p:nvPr/>
        </p:nvSpPr>
        <p:spPr>
          <a:xfrm>
            <a:off x="749808" y="379476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65" name="atomLabel_273"/>
          <p:cNvSpPr txBox="1"/>
          <p:nvPr/>
        </p:nvSpPr>
        <p:spPr>
          <a:xfrm>
            <a:off x="749808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6" name="text_274"/>
          <p:cNvSpPr txBox="1"/>
          <p:nvPr/>
        </p:nvSpPr>
        <p:spPr>
          <a:xfrm>
            <a:off x="1325880" y="3794760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語彙の番号を公式と同じにする</a:t>
            </a:r>
            <a:endParaRPr lang="en-US" sz="1500" dirty="0"/>
          </a:p>
        </p:txBody>
      </p:sp>
      <p:sp>
        <p:nvSpPr>
          <p:cNvPr id="67" name="text_275"/>
          <p:cNvSpPr txBox="1"/>
          <p:nvPr/>
        </p:nvSpPr>
        <p:spPr>
          <a:xfrm>
            <a:off x="1325880" y="4142232"/>
            <a:ext cx="444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mol.dict.txt の行の順番がそのまま ID。[PAD]=0, [CLS]=1, [SEP]=2, C=4, N=5, O=6, H=8, F=10、最後に [MASK]=30 を足して 31 語。ずれると別の原子として読まれる</a:t>
            </a:r>
            <a:endParaRPr lang="en-US" sz="1200" dirty="0"/>
          </a:p>
        </p:txBody>
      </p:sp>
      <p:sp>
        <p:nvSpPr>
          <p:cNvPr id="68" name="card_276"/>
          <p:cNvSpPr/>
          <p:nvPr/>
        </p:nvSpPr>
        <p:spPr>
          <a:xfrm>
            <a:off x="6233008" y="3611880"/>
            <a:ext cx="5410048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9" name="atom_277"/>
          <p:cNvSpPr/>
          <p:nvPr/>
        </p:nvSpPr>
        <p:spPr>
          <a:xfrm>
            <a:off x="6434176" y="379476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70" name="atomLabel_278"/>
          <p:cNvSpPr txBox="1"/>
          <p:nvPr/>
        </p:nvSpPr>
        <p:spPr>
          <a:xfrm>
            <a:off x="6434176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1" name="text_279"/>
          <p:cNvSpPr txBox="1"/>
          <p:nvPr/>
        </p:nvSpPr>
        <p:spPr>
          <a:xfrm>
            <a:off x="7010248" y="3794760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座標は重心を原点に</a:t>
            </a:r>
            <a:endParaRPr lang="en-US" sz="1500" dirty="0"/>
          </a:p>
        </p:txBody>
      </p:sp>
      <p:sp>
        <p:nvSpPr>
          <p:cNvPr id="72" name="text_280"/>
          <p:cNvSpPr txBox="1"/>
          <p:nvPr/>
        </p:nvSpPr>
        <p:spPr>
          <a:xfrm>
            <a:off x="7010248" y="4142232"/>
            <a:ext cx="444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本物の原子の重心を (0,0,0) に移す。[CLS]・[SEP]・[PAD] は原点に置く。モデルは距離しか使わないので、分子の向きは関係ない</a:t>
            </a:r>
            <a:endParaRPr lang="en-US" sz="1200" dirty="0"/>
          </a:p>
        </p:txBody>
      </p:sp>
      <p:sp>
        <p:nvSpPr>
          <p:cNvPr id="73" name="card_281"/>
          <p:cNvSpPr/>
          <p:nvPr/>
        </p:nvSpPr>
        <p:spPr>
          <a:xfrm>
            <a:off x="548640" y="5020056"/>
            <a:ext cx="5410048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4" name="atom_282"/>
          <p:cNvSpPr/>
          <p:nvPr/>
        </p:nvSpPr>
        <p:spPr>
          <a:xfrm>
            <a:off x="749808" y="5202936"/>
            <a:ext cx="420624" cy="420624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75" name="atomLabel_283"/>
          <p:cNvSpPr txBox="1"/>
          <p:nvPr/>
        </p:nvSpPr>
        <p:spPr>
          <a:xfrm>
            <a:off x="749808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76" name="text_284"/>
          <p:cNvSpPr txBox="1"/>
          <p:nvPr/>
        </p:nvSpPr>
        <p:spPr>
          <a:xfrm>
            <a:off x="1325880" y="52029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ペアの位置は +1 して取り出す</a:t>
            </a:r>
            <a:endParaRPr lang="en-US" sz="1500" dirty="0"/>
          </a:p>
        </p:txBody>
      </p:sp>
      <p:sp>
        <p:nvSpPr>
          <p:cNvPr id="77" name="text_285"/>
          <p:cNvSpPr txBox="1"/>
          <p:nvPr/>
        </p:nvSpPr>
        <p:spPr>
          <a:xfrm>
            <a:off x="1325880" y="5550408"/>
            <a:ext cx="444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train.csv の atom_index は 0 始まり。先頭に [CLS] がある分ずれるので、atom_index 0 の原子は位置 1 にいる</a:t>
            </a:r>
            <a:endParaRPr lang="en-US" sz="1200" dirty="0"/>
          </a:p>
        </p:txBody>
      </p:sp>
      <p:sp>
        <p:nvSpPr>
          <p:cNvPr id="78" name="card_286"/>
          <p:cNvSpPr/>
          <p:nvPr/>
        </p:nvSpPr>
        <p:spPr>
          <a:xfrm>
            <a:off x="6233008" y="5020056"/>
            <a:ext cx="5410048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9" name="atom_287"/>
          <p:cNvSpPr/>
          <p:nvPr/>
        </p:nvSpPr>
        <p:spPr>
          <a:xfrm>
            <a:off x="6434176" y="5202936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80" name="atomLabel_288"/>
          <p:cNvSpPr txBox="1"/>
          <p:nvPr/>
        </p:nvSpPr>
        <p:spPr>
          <a:xfrm>
            <a:off x="6434176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81" name="text_289"/>
          <p:cNvSpPr txBox="1"/>
          <p:nvPr/>
        </p:nvSpPr>
        <p:spPr>
          <a:xfrm>
            <a:off x="7010248" y="52029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0 埋めを減らしてまとめる</a:t>
            </a:r>
            <a:endParaRPr lang="en-US" sz="1500" dirty="0"/>
          </a:p>
        </p:txBody>
      </p:sp>
      <p:sp>
        <p:nvSpPr>
          <p:cNvPr id="82" name="text_290"/>
          <p:cNvSpPr txBox="1"/>
          <p:nvPr/>
        </p:nvSpPr>
        <p:spPr>
          <a:xfrm>
            <a:off x="7010248" y="5550408"/>
            <a:ext cx="444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最大 29 原子 → 長さ 31。原子数が近い分子どうしで 1 バッチ（64 分子）にする。[PAD] は attention で無視される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移植が正しいかを、学習前に確かめる</a:t>
            </a:r>
            <a:endParaRPr lang="en-US" sz="3200" dirty="0"/>
          </a:p>
        </p:txBody>
      </p:sp>
      <p:sp>
        <p:nvSpPr>
          <p:cNvPr id="3" name="box_291"/>
          <p:cNvSpPr/>
          <p:nvPr/>
        </p:nvSpPr>
        <p:spPr>
          <a:xfrm>
            <a:off x="548640" y="1371600"/>
            <a:ext cx="493776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oxText_292"/>
          <p:cNvSpPr txBox="1"/>
          <p:nvPr/>
        </p:nvSpPr>
        <p:spPr>
          <a:xfrm>
            <a:off x="658368" y="1371600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分子の原子と座標 → 移植した本体（15 層）</a:t>
            </a:r>
            <a:endParaRPr lang="en-US" sz="1400" dirty="0"/>
          </a:p>
        </p:txBody>
      </p:sp>
      <p:sp>
        <p:nvSpPr>
          <p:cNvPr id="5" name="arrow_293"/>
          <p:cNvSpPr/>
          <p:nvPr/>
        </p:nvSpPr>
        <p:spPr>
          <a:xfrm>
            <a:off x="3017520" y="1938528"/>
            <a:ext cx="0" cy="274320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  <a:tailEnd type="triangle"/>
          </a:ln>
        </p:spPr>
      </p:sp>
      <p:sp>
        <p:nvSpPr>
          <p:cNvPr id="6" name="box_294"/>
          <p:cNvSpPr/>
          <p:nvPr/>
        </p:nvSpPr>
        <p:spPr>
          <a:xfrm>
            <a:off x="548640" y="2212848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7" name="boxText_295"/>
          <p:cNvSpPr txBox="1"/>
          <p:nvPr/>
        </p:nvSpPr>
        <p:spPr>
          <a:xfrm>
            <a:off x="658368" y="2212848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最終のペア表現（64 次元）</a:t>
            </a:r>
            <a:endParaRPr lang="en-US" sz="1400" dirty="0"/>
          </a:p>
        </p:txBody>
      </p:sp>
      <p:sp>
        <p:nvSpPr>
          <p:cNvPr id="8" name="arrow_296"/>
          <p:cNvSpPr/>
          <p:nvPr/>
        </p:nvSpPr>
        <p:spPr>
          <a:xfrm>
            <a:off x="3017520" y="2779776"/>
            <a:ext cx="0" cy="274320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  <a:tailEnd type="triangle"/>
          </a:ln>
        </p:spPr>
      </p:sp>
      <p:sp>
        <p:nvSpPr>
          <p:cNvPr id="9" name="box_297"/>
          <p:cNvSpPr/>
          <p:nvPr/>
        </p:nvSpPr>
        <p:spPr>
          <a:xfrm>
            <a:off x="548640" y="3054096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0" name="boxText_298"/>
          <p:cNvSpPr txBox="1"/>
          <p:nvPr/>
        </p:nvSpPr>
        <p:spPr>
          <a:xfrm>
            <a:off x="658368" y="3054096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dist_head（事前学習で距離を当てていた部品）</a:t>
            </a:r>
            <a:endParaRPr lang="en-US" sz="1400" dirty="0"/>
          </a:p>
        </p:txBody>
      </p:sp>
      <p:sp>
        <p:nvSpPr>
          <p:cNvPr id="11" name="arrow_299"/>
          <p:cNvSpPr/>
          <p:nvPr/>
        </p:nvSpPr>
        <p:spPr>
          <a:xfrm>
            <a:off x="3017520" y="3621024"/>
            <a:ext cx="0" cy="274320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  <a:tailEnd type="triangle"/>
          </a:ln>
        </p:spPr>
      </p:sp>
      <p:sp>
        <p:nvSpPr>
          <p:cNvPr id="12" name="box_300"/>
          <p:cNvSpPr/>
          <p:nvPr/>
        </p:nvSpPr>
        <p:spPr>
          <a:xfrm>
            <a:off x="548640" y="3895344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3" name="boxText_301"/>
          <p:cNvSpPr txBox="1"/>
          <p:nvPr/>
        </p:nvSpPr>
        <p:spPr>
          <a:xfrm>
            <a:off x="658368" y="3895344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× 3.3899 ＋ 6.3126（標準化を Å に戻す）</a:t>
            </a:r>
            <a:endParaRPr lang="en-US" sz="1400" dirty="0"/>
          </a:p>
        </p:txBody>
      </p:sp>
      <p:sp>
        <p:nvSpPr>
          <p:cNvPr id="14" name="arrow_302"/>
          <p:cNvSpPr/>
          <p:nvPr/>
        </p:nvSpPr>
        <p:spPr>
          <a:xfrm>
            <a:off x="3017520" y="4462272"/>
            <a:ext cx="0" cy="274320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  <a:tailEnd type="triangle"/>
          </a:ln>
        </p:spPr>
      </p:sp>
      <p:sp>
        <p:nvSpPr>
          <p:cNvPr id="15" name="box_303"/>
          <p:cNvSpPr/>
          <p:nvPr/>
        </p:nvSpPr>
        <p:spPr>
          <a:xfrm>
            <a:off x="548640" y="4736592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17424A"/>
          </a:solidFill>
          <a:ln w="12700">
            <a:solidFill>
              <a:srgbClr val="17424A"/>
            </a:solidFill>
            <a:prstDash val="solid"/>
          </a:ln>
        </p:spPr>
      </p:sp>
      <p:sp>
        <p:nvSpPr>
          <p:cNvPr id="16" name="boxText_304"/>
          <p:cNvSpPr txBox="1"/>
          <p:nvPr/>
        </p:nvSpPr>
        <p:spPr>
          <a:xfrm>
            <a:off x="658368" y="4736592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座標から計算した本物の距離と比べる</a:t>
            </a:r>
            <a:endParaRPr lang="en-US" sz="1400" dirty="0"/>
          </a:p>
        </p:txBody>
      </p:sp>
      <p:sp>
        <p:nvSpPr>
          <p:cNvPr id="17" name="text_305"/>
          <p:cNvSpPr txBox="1"/>
          <p:nvPr/>
        </p:nvSpPr>
        <p:spPr>
          <a:xfrm>
            <a:off x="548640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読み込めなかった重み：なし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使わない部分：lm_head / dist_head / pair2coord_proj</a:t>
            </a:r>
            <a:endParaRPr lang="en-US" sz="1200" dirty="0"/>
          </a:p>
        </p:txBody>
      </p:sp>
      <p:sp>
        <p:nvSpPr>
          <p:cNvPr id="18" name="card_306"/>
          <p:cNvSpPr/>
          <p:nvPr/>
        </p:nvSpPr>
        <p:spPr>
          <a:xfrm>
            <a:off x="5852160" y="1371600"/>
            <a:ext cx="262112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_307"/>
          <p:cNvSpPr txBox="1"/>
          <p:nvPr/>
        </p:nvSpPr>
        <p:spPr>
          <a:xfrm>
            <a:off x="6080760" y="1508760"/>
            <a:ext cx="2163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B7DA8"/>
                </a:solidFill>
              </a:rPr>
              <a:t>0.98 Å</a:t>
            </a:r>
            <a:endParaRPr lang="en-US" sz="3600" dirty="0"/>
          </a:p>
        </p:txBody>
      </p:sp>
      <p:sp>
        <p:nvSpPr>
          <p:cNvPr id="20" name="text_308"/>
          <p:cNvSpPr txBox="1"/>
          <p:nvPr/>
        </p:nvSpPr>
        <p:spPr>
          <a:xfrm>
            <a:off x="6080760" y="2286000"/>
            <a:ext cx="2163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最初：変化分のペア表現（delta）を入れた</a:t>
            </a:r>
            <a:endParaRPr lang="en-US" sz="1300" dirty="0"/>
          </a:p>
        </p:txBody>
      </p:sp>
      <p:sp>
        <p:nvSpPr>
          <p:cNvPr id="21" name="arrow_309"/>
          <p:cNvSpPr/>
          <p:nvPr/>
        </p:nvSpPr>
        <p:spPr>
          <a:xfrm>
            <a:off x="8546440" y="2240280"/>
            <a:ext cx="402336" cy="0"/>
          </a:xfrm>
          <a:prstGeom prst="line">
            <a:avLst/>
          </a:prstGeom>
          <a:noFill/>
          <a:ln w="25400">
            <a:solidFill>
              <a:srgbClr val="E8833A"/>
            </a:solidFill>
            <a:prstDash val="solid"/>
            <a:tailEnd type="triangle"/>
          </a:ln>
        </p:spPr>
      </p:sp>
      <p:sp>
        <p:nvSpPr>
          <p:cNvPr id="22" name="card_310"/>
          <p:cNvSpPr/>
          <p:nvPr/>
        </p:nvSpPr>
        <p:spPr>
          <a:xfrm>
            <a:off x="9021928" y="1371600"/>
            <a:ext cx="2621128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_311"/>
          <p:cNvSpPr txBox="1"/>
          <p:nvPr/>
        </p:nvSpPr>
        <p:spPr>
          <a:xfrm>
            <a:off x="9250528" y="1508760"/>
            <a:ext cx="2163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C14E"/>
                </a:solidFill>
              </a:rPr>
              <a:t>0.05 Å</a:t>
            </a:r>
            <a:endParaRPr lang="en-US" sz="3600" dirty="0"/>
          </a:p>
        </p:txBody>
      </p:sp>
      <p:sp>
        <p:nvSpPr>
          <p:cNvPr id="24" name="text_312"/>
          <p:cNvSpPr txBox="1"/>
          <p:nvPr/>
        </p:nvSpPr>
        <p:spPr>
          <a:xfrm>
            <a:off x="9250528" y="2286000"/>
            <a:ext cx="2163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最終のペア表現を入れた（原子間距離の平均誤差）</a:t>
            </a:r>
            <a:endParaRPr lang="en-US" sz="1300" dirty="0"/>
          </a:p>
        </p:txBody>
      </p:sp>
      <p:sp>
        <p:nvSpPr>
          <p:cNvPr id="25" name="card_313"/>
          <p:cNvSpPr/>
          <p:nvPr/>
        </p:nvSpPr>
        <p:spPr>
          <a:xfrm>
            <a:off x="5852160" y="3337560"/>
            <a:ext cx="5790895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_314"/>
          <p:cNvSpPr txBox="1"/>
          <p:nvPr/>
        </p:nvSpPr>
        <p:spPr>
          <a:xfrm>
            <a:off x="6126480" y="3474720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なぜ delta ではダメだった？</a:t>
            </a:r>
            <a:endParaRPr lang="en-US" sz="1500" dirty="0"/>
          </a:p>
        </p:txBody>
      </p:sp>
      <p:sp>
        <p:nvSpPr>
          <p:cNvPr id="27" name="text_315"/>
          <p:cNvSpPr txBox="1"/>
          <p:nvPr/>
        </p:nvSpPr>
        <p:spPr>
          <a:xfrm>
            <a:off x="6126480" y="3840480"/>
            <a:ext cx="5242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delta は「最終のペア表現 − 入力の距離バイアス」。事前学習では座標をずらして戻す部品（pair2coord_proj）に使われていて、距離を当てる dist_head に入っていたのは最終のペア表現だった</a:t>
            </a:r>
            <a:endParaRPr lang="en-US" sz="1200" dirty="0"/>
          </a:p>
        </p:txBody>
      </p:sp>
      <p:sp>
        <p:nvSpPr>
          <p:cNvPr id="28" name="card_316"/>
          <p:cNvSpPr/>
          <p:nvPr/>
        </p:nvSpPr>
        <p:spPr>
          <a:xfrm>
            <a:off x="5852160" y="4800600"/>
            <a:ext cx="5790895" cy="1325880"/>
          </a:xfrm>
          <a:prstGeom prst="roundRect">
            <a:avLst>
              <a:gd name="adj" fmla="val 8276"/>
            </a:avLst>
          </a:prstGeom>
          <a:solidFill>
            <a:srgbClr val="F6EDE5"/>
          </a:solidFill>
          <a:ln w="9525">
            <a:solidFill>
              <a:srgbClr val="F6EDE5"/>
            </a:solidFill>
            <a:prstDash val="solid"/>
          </a:ln>
        </p:spPr>
      </p:sp>
      <p:sp>
        <p:nvSpPr>
          <p:cNvPr id="29" name="text_317"/>
          <p:cNvSpPr txBox="1"/>
          <p:nvPr/>
        </p:nvSpPr>
        <p:spPr>
          <a:xfrm>
            <a:off x="6126480" y="4937760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なぜ学習前に確かめる？</a:t>
            </a:r>
            <a:endParaRPr lang="en-US" sz="1500" dirty="0"/>
          </a:p>
        </p:txBody>
      </p:sp>
      <p:sp>
        <p:nvSpPr>
          <p:cNvPr id="30" name="text_318"/>
          <p:cNvSpPr txBox="1"/>
          <p:nvPr/>
        </p:nvSpPr>
        <p:spPr>
          <a:xfrm>
            <a:off x="6126480" y="5303520"/>
            <a:ext cx="5242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語彙の番号や入力の形がずれていても、学習はエラーなく回ってしまう。精度が出ないときに原因を切り分けられないので、事前学習の部品で答え合わせしてから fine-tune する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J の内訳：fc / sd / pso / dso</a:t>
            </a:r>
            <a:endParaRPr lang="en-US" sz="3200" dirty="0"/>
          </a:p>
        </p:txBody>
      </p:sp>
      <p:sp>
        <p:nvSpPr>
          <p:cNvPr id="3" name="text_319"/>
          <p:cNvSpPr txBox="1"/>
          <p:nvPr/>
        </p:nvSpPr>
        <p:spPr>
          <a:xfrm>
            <a:off x="548640" y="1234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7DA8"/>
                </a:solidFill>
              </a:rPr>
              <a:t>J ＝ fc ＋ sd ＋ pso ＋ dso。テストの合計点と科目別の点数の関係（train にだけ付いている）</a:t>
            </a:r>
            <a:endParaRPr lang="en-US" sz="1600" dirty="0"/>
          </a:p>
        </p:txBody>
      </p:sp>
      <p:sp>
        <p:nvSpPr>
          <p:cNvPr id="4" name="card_320"/>
          <p:cNvSpPr/>
          <p:nvPr/>
        </p:nvSpPr>
        <p:spPr>
          <a:xfrm>
            <a:off x="548640" y="1783080"/>
            <a:ext cx="603504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atom_321"/>
          <p:cNvSpPr/>
          <p:nvPr/>
        </p:nvSpPr>
        <p:spPr>
          <a:xfrm>
            <a:off x="731520" y="1929384"/>
            <a:ext cx="640080" cy="64008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6" name="atomLabel_322"/>
          <p:cNvSpPr txBox="1"/>
          <p:nvPr/>
        </p:nvSpPr>
        <p:spPr>
          <a:xfrm>
            <a:off x="731520" y="19293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fc</a:t>
            </a:r>
            <a:endParaRPr lang="en-US" sz="1800" dirty="0"/>
          </a:p>
        </p:txBody>
      </p:sp>
      <p:sp>
        <p:nvSpPr>
          <p:cNvPr id="7" name="text_323"/>
          <p:cNvSpPr txBox="1"/>
          <p:nvPr/>
        </p:nvSpPr>
        <p:spPr>
          <a:xfrm>
            <a:off x="1554480" y="189280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フェルミ接触項</a:t>
            </a:r>
            <a:endParaRPr lang="en-US" sz="1500" dirty="0"/>
          </a:p>
        </p:txBody>
      </p:sp>
      <p:sp>
        <p:nvSpPr>
          <p:cNvPr id="8" name="text_324"/>
          <p:cNvSpPr txBox="1"/>
          <p:nvPr/>
        </p:nvSpPr>
        <p:spPr>
          <a:xfrm>
            <a:off x="1554480" y="22219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電子が核に直接触れて伝える太いルート。J のほとんどがこれ</a:t>
            </a:r>
            <a:endParaRPr lang="en-US" sz="1200" dirty="0"/>
          </a:p>
        </p:txBody>
      </p:sp>
      <p:sp>
        <p:nvSpPr>
          <p:cNvPr id="9" name="card_325"/>
          <p:cNvSpPr/>
          <p:nvPr/>
        </p:nvSpPr>
        <p:spPr>
          <a:xfrm>
            <a:off x="548640" y="2862072"/>
            <a:ext cx="603504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atom_326"/>
          <p:cNvSpPr/>
          <p:nvPr/>
        </p:nvSpPr>
        <p:spPr>
          <a:xfrm>
            <a:off x="731520" y="3008376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1" name="atomLabel_327"/>
          <p:cNvSpPr txBox="1"/>
          <p:nvPr/>
        </p:nvSpPr>
        <p:spPr>
          <a:xfrm>
            <a:off x="731520" y="3008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sd</a:t>
            </a:r>
            <a:endParaRPr lang="en-US" sz="1800" dirty="0"/>
          </a:p>
        </p:txBody>
      </p:sp>
      <p:sp>
        <p:nvSpPr>
          <p:cNvPr id="12" name="text_328"/>
          <p:cNvSpPr txBox="1"/>
          <p:nvPr/>
        </p:nvSpPr>
        <p:spPr>
          <a:xfrm>
            <a:off x="155448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スピン双極子項</a:t>
            </a:r>
            <a:endParaRPr lang="en-US" sz="1500" dirty="0"/>
          </a:p>
        </p:txBody>
      </p:sp>
      <p:sp>
        <p:nvSpPr>
          <p:cNvPr id="13" name="text_329"/>
          <p:cNvSpPr txBox="1"/>
          <p:nvPr/>
        </p:nvSpPr>
        <p:spPr>
          <a:xfrm>
            <a:off x="1554480" y="33009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電子の磁石どうしが、離れたまま引き合う・反発し合う分。たいてい小さい</a:t>
            </a:r>
            <a:endParaRPr lang="en-US" sz="1200" dirty="0"/>
          </a:p>
        </p:txBody>
      </p:sp>
      <p:sp>
        <p:nvSpPr>
          <p:cNvPr id="14" name="card_330"/>
          <p:cNvSpPr/>
          <p:nvPr/>
        </p:nvSpPr>
        <p:spPr>
          <a:xfrm>
            <a:off x="548640" y="3941064"/>
            <a:ext cx="603504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atom_331"/>
          <p:cNvSpPr/>
          <p:nvPr/>
        </p:nvSpPr>
        <p:spPr>
          <a:xfrm>
            <a:off x="731520" y="4087368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6" name="atomLabel_332"/>
          <p:cNvSpPr txBox="1"/>
          <p:nvPr/>
        </p:nvSpPr>
        <p:spPr>
          <a:xfrm>
            <a:off x="731520" y="4087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pso</a:t>
            </a:r>
            <a:endParaRPr lang="en-US" sz="1500" dirty="0"/>
          </a:p>
        </p:txBody>
      </p:sp>
      <p:sp>
        <p:nvSpPr>
          <p:cNvPr id="17" name="text_333"/>
          <p:cNvSpPr txBox="1"/>
          <p:nvPr/>
        </p:nvSpPr>
        <p:spPr>
          <a:xfrm>
            <a:off x="1554480" y="40507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常磁性スピン軌道項</a:t>
            </a:r>
            <a:endParaRPr lang="en-US" sz="1500" dirty="0"/>
          </a:p>
        </p:txBody>
      </p:sp>
      <p:sp>
        <p:nvSpPr>
          <p:cNvPr id="18" name="text_334"/>
          <p:cNvSpPr txBox="1"/>
          <p:nvPr/>
        </p:nvSpPr>
        <p:spPr>
          <a:xfrm>
            <a:off x="1554480" y="43799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電子が核のまわりを回る動き（電流）を通して伝わる分</a:t>
            </a:r>
            <a:endParaRPr lang="en-US" sz="1200" dirty="0"/>
          </a:p>
        </p:txBody>
      </p:sp>
      <p:sp>
        <p:nvSpPr>
          <p:cNvPr id="19" name="card_335"/>
          <p:cNvSpPr/>
          <p:nvPr/>
        </p:nvSpPr>
        <p:spPr>
          <a:xfrm>
            <a:off x="548640" y="5020056"/>
            <a:ext cx="603504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atom_336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1" name="atomLabel_337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dso</a:t>
            </a:r>
            <a:endParaRPr lang="en-US" sz="1500" dirty="0"/>
          </a:p>
        </p:txBody>
      </p:sp>
      <p:sp>
        <p:nvSpPr>
          <p:cNvPr id="22" name="text_338"/>
          <p:cNvSpPr txBox="1"/>
          <p:nvPr/>
        </p:nvSpPr>
        <p:spPr>
          <a:xfrm>
            <a:off x="1554480" y="51297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反磁性スピン軌道項</a:t>
            </a:r>
            <a:endParaRPr lang="en-US" sz="1500" dirty="0"/>
          </a:p>
        </p:txBody>
      </p:sp>
      <p:sp>
        <p:nvSpPr>
          <p:cNvPr id="23" name="text_339"/>
          <p:cNvSpPr txBox="1"/>
          <p:nvPr/>
        </p:nvSpPr>
        <p:spPr>
          <a:xfrm>
            <a:off x="1554480" y="54589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pso と同じ軌道の効果で、逆向きに効く分。pso と打ち消し合いやすい</a:t>
            </a:r>
            <a:endParaRPr lang="en-US" sz="1200" dirty="0"/>
          </a:p>
        </p:txBody>
      </p:sp>
      <p:graphicFrame>
        <p:nvGraphicFramePr>
          <p:cNvPr id="24" name="chart_340" descr=""/>
          <p:cNvGraphicFramePr/>
          <p:nvPr/>
        </p:nvGraphicFramePr>
        <p:xfrm>
          <a:off x="6903720" y="1737360"/>
          <a:ext cx="47393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_341"/>
          <p:cNvSpPr txBox="1"/>
          <p:nvPr/>
        </p:nvSpPr>
        <p:spPr>
          <a:xfrm>
            <a:off x="6903720" y="5623560"/>
            <a:ext cx="4739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1J はほぼ fc だけ。2JHH・3JHH は残り 3 つも 3 割ほど効く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J の出し方</a:t>
            </a:r>
            <a:endParaRPr lang="en-US" sz="3200" dirty="0"/>
          </a:p>
        </p:txBody>
      </p:sp>
      <p:sp>
        <p:nvSpPr>
          <p:cNvPr id="3" name="box_342"/>
          <p:cNvSpPr/>
          <p:nvPr/>
        </p:nvSpPr>
        <p:spPr>
          <a:xfrm>
            <a:off x="548640" y="13258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4" name="boxText_343"/>
          <p:cNvSpPr txBox="1"/>
          <p:nvPr/>
        </p:nvSpPr>
        <p:spPr>
          <a:xfrm>
            <a:off x="658368" y="1325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原子 i の表現（512）</a:t>
            </a:r>
            <a:endParaRPr lang="en-US" sz="1300" dirty="0"/>
          </a:p>
        </p:txBody>
      </p:sp>
      <p:sp>
        <p:nvSpPr>
          <p:cNvPr id="5" name="box_344"/>
          <p:cNvSpPr/>
          <p:nvPr/>
        </p:nvSpPr>
        <p:spPr>
          <a:xfrm>
            <a:off x="548640" y="17830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6" name="boxText_345"/>
          <p:cNvSpPr txBox="1"/>
          <p:nvPr/>
        </p:nvSpPr>
        <p:spPr>
          <a:xfrm>
            <a:off x="658368" y="17830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原子 j の表現（512）</a:t>
            </a:r>
            <a:endParaRPr lang="en-US" sz="1300" dirty="0"/>
          </a:p>
        </p:txBody>
      </p:sp>
      <p:sp>
        <p:nvSpPr>
          <p:cNvPr id="7" name="box_346"/>
          <p:cNvSpPr/>
          <p:nvPr/>
        </p:nvSpPr>
        <p:spPr>
          <a:xfrm>
            <a:off x="548640" y="22402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8" name="boxText_347"/>
          <p:cNvSpPr txBox="1"/>
          <p:nvPr/>
        </p:nvSpPr>
        <p:spPr>
          <a:xfrm>
            <a:off x="658368" y="22402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 × j（要素ごとの積）</a:t>
            </a:r>
            <a:endParaRPr lang="en-US" sz="1300" dirty="0"/>
          </a:p>
        </p:txBody>
      </p:sp>
      <p:sp>
        <p:nvSpPr>
          <p:cNvPr id="9" name="box_348"/>
          <p:cNvSpPr/>
          <p:nvPr/>
        </p:nvSpPr>
        <p:spPr>
          <a:xfrm>
            <a:off x="548640" y="26974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10" name="boxText_349"/>
          <p:cNvSpPr txBox="1"/>
          <p:nvPr/>
        </p:nvSpPr>
        <p:spPr>
          <a:xfrm>
            <a:off x="658368" y="26974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ペアの表現 ij（64）</a:t>
            </a:r>
            <a:endParaRPr lang="en-US" sz="1300" dirty="0"/>
          </a:p>
        </p:txBody>
      </p:sp>
      <p:sp>
        <p:nvSpPr>
          <p:cNvPr id="11" name="box_350"/>
          <p:cNvSpPr/>
          <p:nvPr/>
        </p:nvSpPr>
        <p:spPr>
          <a:xfrm>
            <a:off x="548640" y="31546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12" name="boxText_351"/>
          <p:cNvSpPr txBox="1"/>
          <p:nvPr/>
        </p:nvSpPr>
        <p:spPr>
          <a:xfrm>
            <a:off x="658368" y="31546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ペアの表現 ji（64）</a:t>
            </a:r>
            <a:endParaRPr lang="en-US" sz="1300" dirty="0"/>
          </a:p>
        </p:txBody>
      </p:sp>
      <p:sp>
        <p:nvSpPr>
          <p:cNvPr id="13" name="box_352"/>
          <p:cNvSpPr/>
          <p:nvPr/>
        </p:nvSpPr>
        <p:spPr>
          <a:xfrm>
            <a:off x="548640" y="36118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14" name="boxText_353"/>
          <p:cNvSpPr txBox="1"/>
          <p:nvPr/>
        </p:nvSpPr>
        <p:spPr>
          <a:xfrm>
            <a:off x="658368" y="3611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type の埋め込み（64）</a:t>
            </a:r>
            <a:endParaRPr lang="en-US" sz="1300" dirty="0"/>
          </a:p>
        </p:txBody>
      </p:sp>
      <p:sp>
        <p:nvSpPr>
          <p:cNvPr id="15" name="arrow_354"/>
          <p:cNvSpPr/>
          <p:nvPr/>
        </p:nvSpPr>
        <p:spPr>
          <a:xfrm>
            <a:off x="3657600" y="265176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6" name="box_355"/>
          <p:cNvSpPr/>
          <p:nvPr/>
        </p:nvSpPr>
        <p:spPr>
          <a:xfrm>
            <a:off x="4251960" y="219456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7" name="boxText_356"/>
          <p:cNvSpPr txBox="1"/>
          <p:nvPr/>
        </p:nvSpPr>
        <p:spPr>
          <a:xfrm>
            <a:off x="4361688" y="2194560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MLP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512 → 512</a:t>
            </a:r>
            <a:endParaRPr lang="en-US" sz="1500" dirty="0"/>
          </a:p>
        </p:txBody>
      </p:sp>
      <p:sp>
        <p:nvSpPr>
          <p:cNvPr id="18" name="arrow_357"/>
          <p:cNvSpPr/>
          <p:nvPr/>
        </p:nvSpPr>
        <p:spPr>
          <a:xfrm>
            <a:off x="6172200" y="265176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9" name="box_358"/>
          <p:cNvSpPr/>
          <p:nvPr/>
        </p:nvSpPr>
        <p:spPr>
          <a:xfrm>
            <a:off x="6766560" y="2011680"/>
            <a:ext cx="2331720" cy="1280160"/>
          </a:xfrm>
          <a:prstGeom prst="roundRect">
            <a:avLst>
              <a:gd name="adj" fmla="val 7143"/>
            </a:avLst>
          </a:prstGeom>
          <a:solidFill>
            <a:srgbClr val="17424A"/>
          </a:solidFill>
          <a:ln w="12700">
            <a:solidFill>
              <a:srgbClr val="17424A"/>
            </a:solidFill>
            <a:prstDash val="solid"/>
          </a:ln>
        </p:spPr>
      </p:sp>
      <p:sp>
        <p:nvSpPr>
          <p:cNvPr id="20" name="boxText_359"/>
          <p:cNvSpPr txBox="1"/>
          <p:nvPr/>
        </p:nvSpPr>
        <p:spPr>
          <a:xfrm>
            <a:off x="6876288" y="2011680"/>
            <a:ext cx="2112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type 別に 4 成分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fc / sd / pso / dso</a:t>
            </a:r>
            <a:endParaRPr lang="en-US" sz="1500" dirty="0"/>
          </a:p>
        </p:txBody>
      </p:sp>
      <p:sp>
        <p:nvSpPr>
          <p:cNvPr id="21" name="text_360"/>
          <p:cNvSpPr txBox="1"/>
          <p:nvPr/>
        </p:nvSpPr>
        <p:spPr>
          <a:xfrm>
            <a:off x="676656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基本の設定：合計（J）だけに正解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対策あり：4 成分にも正解</a:t>
            </a:r>
            <a:endParaRPr lang="en-US" sz="1100" dirty="0"/>
          </a:p>
        </p:txBody>
      </p:sp>
      <p:sp>
        <p:nvSpPr>
          <p:cNvPr id="22" name="arrow_361"/>
          <p:cNvSpPr/>
          <p:nvPr/>
        </p:nvSpPr>
        <p:spPr>
          <a:xfrm>
            <a:off x="9189720" y="265176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23" name="atom_362"/>
          <p:cNvSpPr/>
          <p:nvPr/>
        </p:nvSpPr>
        <p:spPr>
          <a:xfrm>
            <a:off x="9829800" y="1965960"/>
            <a:ext cx="1371600" cy="13716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24" name="atomLabel_363"/>
          <p:cNvSpPr txBox="1"/>
          <p:nvPr/>
        </p:nvSpPr>
        <p:spPr>
          <a:xfrm>
            <a:off x="9829800" y="19659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J</a:t>
            </a:r>
            <a:endParaRPr lang="en-US" sz="4000" dirty="0"/>
          </a:p>
        </p:txBody>
      </p:sp>
      <p:sp>
        <p:nvSpPr>
          <p:cNvPr id="25" name="text_364"/>
          <p:cNvSpPr txBox="1"/>
          <p:nvPr/>
        </p:nvSpPr>
        <p:spPr>
          <a:xfrm>
            <a:off x="9646920" y="3429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7DA8"/>
                </a:solidFill>
              </a:rPr>
              <a:t>4 成分の合計</a:t>
            </a:r>
            <a:endParaRPr lang="en-US" sz="1300" dirty="0"/>
          </a:p>
        </p:txBody>
      </p:sp>
      <p:sp>
        <p:nvSpPr>
          <p:cNvPr id="26" name="card_365"/>
          <p:cNvSpPr/>
          <p:nvPr/>
        </p:nvSpPr>
        <p:spPr>
          <a:xfrm>
            <a:off x="548640" y="4206240"/>
            <a:ext cx="351525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7" name="atom_366"/>
          <p:cNvSpPr/>
          <p:nvPr/>
        </p:nvSpPr>
        <p:spPr>
          <a:xfrm>
            <a:off x="749808" y="438912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8" name="atomLabel_367"/>
          <p:cNvSpPr txBox="1"/>
          <p:nvPr/>
        </p:nvSpPr>
        <p:spPr>
          <a:xfrm>
            <a:off x="749808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9" name="text_368"/>
          <p:cNvSpPr txBox="1"/>
          <p:nvPr/>
        </p:nvSpPr>
        <p:spPr>
          <a:xfrm>
            <a:off x="1325880" y="4416552"/>
            <a:ext cx="2555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入れ替えに強くする</a:t>
            </a:r>
            <a:endParaRPr lang="en-US" sz="1500" dirty="0"/>
          </a:p>
        </p:txBody>
      </p:sp>
      <p:sp>
        <p:nvSpPr>
          <p:cNvPr id="30" name="text_369"/>
          <p:cNvSpPr txBox="1"/>
          <p:nvPr/>
        </p:nvSpPr>
        <p:spPr>
          <a:xfrm>
            <a:off x="777240" y="493776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(i, j) の順で入れた出力と (j, i) の順の出力を平均する。どちらの原子を先に書いても同じ J になる</a:t>
            </a:r>
            <a:endParaRPr lang="en-US" sz="1300" dirty="0"/>
          </a:p>
        </p:txBody>
      </p:sp>
      <p:sp>
        <p:nvSpPr>
          <p:cNvPr id="31" name="card_370"/>
          <p:cNvSpPr/>
          <p:nvPr/>
        </p:nvSpPr>
        <p:spPr>
          <a:xfrm>
            <a:off x="4338218" y="4206240"/>
            <a:ext cx="351525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atom_371"/>
          <p:cNvSpPr/>
          <p:nvPr/>
        </p:nvSpPr>
        <p:spPr>
          <a:xfrm>
            <a:off x="4539386" y="438912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33" name="atomLabel_372"/>
          <p:cNvSpPr txBox="1"/>
          <p:nvPr/>
        </p:nvSpPr>
        <p:spPr>
          <a:xfrm>
            <a:off x="4539386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4" name="text_373"/>
          <p:cNvSpPr txBox="1"/>
          <p:nvPr/>
        </p:nvSpPr>
        <p:spPr>
          <a:xfrm>
            <a:off x="5115458" y="4416552"/>
            <a:ext cx="2555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スケールを合わせる</a:t>
            </a:r>
            <a:endParaRPr lang="en-US" sz="1500" dirty="0"/>
          </a:p>
        </p:txBody>
      </p:sp>
      <p:sp>
        <p:nvSpPr>
          <p:cNvPr id="35" name="text_374"/>
          <p:cNvSpPr txBox="1"/>
          <p:nvPr/>
        </p:nvSpPr>
        <p:spPr>
          <a:xfrm>
            <a:off x="4566818" y="493776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出力 ＝ 平均[type, 成分] ＋ 標準偏差[type, 成分] × MLP の出力。8 type × 4 成分の統計は学習分子だけで計算</a:t>
            </a:r>
            <a:endParaRPr lang="en-US" sz="1300" dirty="0"/>
          </a:p>
        </p:txBody>
      </p:sp>
      <p:sp>
        <p:nvSpPr>
          <p:cNvPr id="36" name="card_375"/>
          <p:cNvSpPr/>
          <p:nvPr/>
        </p:nvSpPr>
        <p:spPr>
          <a:xfrm>
            <a:off x="8127797" y="4206240"/>
            <a:ext cx="351525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7" name="atom_376"/>
          <p:cNvSpPr/>
          <p:nvPr/>
        </p:nvSpPr>
        <p:spPr>
          <a:xfrm>
            <a:off x="8328965" y="438912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38" name="atomLabel_377"/>
          <p:cNvSpPr txBox="1"/>
          <p:nvPr/>
        </p:nvSpPr>
        <p:spPr>
          <a:xfrm>
            <a:off x="8328965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9" name="text_378"/>
          <p:cNvSpPr txBox="1"/>
          <p:nvPr/>
        </p:nvSpPr>
        <p:spPr>
          <a:xfrm>
            <a:off x="8905037" y="4416552"/>
            <a:ext cx="2555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MLP の形</a:t>
            </a:r>
            <a:endParaRPr lang="en-US" sz="1500" dirty="0"/>
          </a:p>
        </p:txBody>
      </p:sp>
      <p:sp>
        <p:nvSpPr>
          <p:cNvPr id="40" name="text_379"/>
          <p:cNvSpPr txBox="1"/>
          <p:nvPr/>
        </p:nvSpPr>
        <p:spPr>
          <a:xfrm>
            <a:off x="8356397" y="493776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入力 1,728 次元（512×3 ＋ 64×2 ＋ 64）→ LayerNorm → 512 → 512 → 32（8 type × 4 成分）。自分の type の 4 つだけ使う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学習の設定と、その理由</a:t>
            </a:r>
            <a:endParaRPr lang="en-US" sz="3200" dirty="0"/>
          </a:p>
        </p:txBody>
      </p:sp>
      <p:graphicFrame>
        <p:nvGraphicFramePr>
          <p:cNvPr id="19" name="table_3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406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学習率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本体 1e-4 ／ 出力部分 1e-3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事前学習の知識は少しずつ直し、新しい出力部分は速く学ばせる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スケジュール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最初の 3% で上げて、あとは cosine で 0 へ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いきなり大きく動かして事前学習の重みを壊さない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最適化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AdamW（weight decay 0.01）、勾配クリップ 1.0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decay は重み行列だけ（bias・LayerNorm は除く）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損失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type 別 log(MAE) の平均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評価指標そのもの。値の幅が違う type を同じ重みで扱える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検証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train 分子の 5% を分子単位で取り分け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同じ分子が両側に入ると甘くなる → 検証 -2.385 ≒ Private -2.372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計算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1 バッチ 64 分子、A100 で bf16、60 エポック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1 エポック約 1.1 分（T4 なら fp16）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再開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毎エポック last.pt、最良を best.pt に保存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Colab が切れても同じセルを実行すれば続きから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_381" descr=""/>
          <p:cNvGraphicFramePr/>
          <p:nvPr/>
        </p:nvGraphicFramePr>
        <p:xfrm>
          <a:off x="8229600" y="1325880"/>
          <a:ext cx="341345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_382"/>
          <p:cNvSpPr/>
          <p:nvPr/>
        </p:nvSpPr>
        <p:spPr>
          <a:xfrm>
            <a:off x="8229600" y="4297680"/>
            <a:ext cx="3413455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text_383"/>
          <p:cNvSpPr txBox="1"/>
          <p:nvPr/>
        </p:nvSpPr>
        <p:spPr>
          <a:xfrm>
            <a:off x="8503920" y="4434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2C14E"/>
                </a:solidFill>
              </a:rPr>
              <a:t>1/10</a:t>
            </a:r>
            <a:endParaRPr lang="en-US" sz="4400" dirty="0"/>
          </a:p>
        </p:txBody>
      </p:sp>
      <p:sp>
        <p:nvSpPr>
          <p:cNvPr id="7" name="text_384"/>
          <p:cNvSpPr txBox="1"/>
          <p:nvPr/>
        </p:nvSpPr>
        <p:spPr>
          <a:xfrm>
            <a:off x="8503920" y="52578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本体の学習率は出力部分の 1/10。ゼロから学ぶ部分と、すでに知っている部分で速さを変える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学習した 2 つのモデル</a:t>
            </a:r>
            <a:endParaRPr lang="en-US" sz="3200" dirty="0"/>
          </a:p>
        </p:txBody>
      </p:sp>
      <p:graphicFrame>
        <p:nvGraphicFramePr>
          <p:cNvPr id="20" name="table_3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2422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基本の設定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覚え込み対策あり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7DA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ねらい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まずは素直に fine-tune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覚え込み（学習と検証の差）を抑える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dropout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なし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0.1（事前学習のときと同じ）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何を当てるか（損失）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J だけ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J ＋ 4 成分（fc / sd / pso / dso）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学習（A100）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60 エポック・約 1 時間 10 分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60 エポック・約 1 時間 20 分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検証 score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2F"/>
                          </a:solidFill>
                        </a:rPr>
                        <a:t>-2.385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2F"/>
                          </a:solidFill>
                        </a:rPr>
                        <a:t>-2.159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</a:tbl>
          </a:graphicData>
        </a:graphic>
      </p:graphicFrame>
      <p:sp>
        <p:nvSpPr>
          <p:cNvPr id="4" name="card_386"/>
          <p:cNvSpPr/>
          <p:nvPr/>
        </p:nvSpPr>
        <p:spPr>
          <a:xfrm>
            <a:off x="548640" y="4434840"/>
            <a:ext cx="536432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atom_387"/>
          <p:cNvSpPr/>
          <p:nvPr/>
        </p:nvSpPr>
        <p:spPr>
          <a:xfrm>
            <a:off x="822960" y="4663440"/>
            <a:ext cx="502920" cy="502920"/>
          </a:xfrm>
          <a:prstGeom prst="ellipse">
            <a:avLst/>
          </a:prstGeom>
          <a:solidFill>
            <a:srgbClr val="5B7DA8"/>
          </a:solidFill>
          <a:ln w="9525">
            <a:solidFill>
              <a:srgbClr val="5B7DA8"/>
            </a:solidFill>
            <a:prstDash val="solid"/>
          </a:ln>
        </p:spPr>
      </p:sp>
      <p:sp>
        <p:nvSpPr>
          <p:cNvPr id="6" name="atomLabel_388"/>
          <p:cNvSpPr txBox="1"/>
          <p:nvPr/>
        </p:nvSpPr>
        <p:spPr>
          <a:xfrm>
            <a:off x="82296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7" name="text_389"/>
          <p:cNvSpPr txBox="1"/>
          <p:nvPr/>
        </p:nvSpPr>
        <p:spPr>
          <a:xfrm>
            <a:off x="1508760" y="466344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dropout とは</a:t>
            </a:r>
            <a:endParaRPr lang="en-US" sz="1700" dirty="0"/>
          </a:p>
        </p:txBody>
      </p:sp>
      <p:sp>
        <p:nvSpPr>
          <p:cNvPr id="8" name="text_390"/>
          <p:cNvSpPr txBox="1"/>
          <p:nvPr/>
        </p:nvSpPr>
        <p:spPr>
          <a:xfrm>
            <a:off x="1508760" y="5074920"/>
            <a:ext cx="4175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学習中に、ランダムに一部のつながりを切る。特定のデータを丸暗記しにくくなる</a:t>
            </a:r>
            <a:endParaRPr lang="en-US" sz="1400" dirty="0"/>
          </a:p>
        </p:txBody>
      </p:sp>
      <p:sp>
        <p:nvSpPr>
          <p:cNvPr id="9" name="card_391"/>
          <p:cNvSpPr/>
          <p:nvPr/>
        </p:nvSpPr>
        <p:spPr>
          <a:xfrm>
            <a:off x="6278728" y="4434840"/>
            <a:ext cx="536432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atom_392"/>
          <p:cNvSpPr/>
          <p:nvPr/>
        </p:nvSpPr>
        <p:spPr>
          <a:xfrm>
            <a:off x="6553048" y="4663440"/>
            <a:ext cx="502920" cy="502920"/>
          </a:xfrm>
          <a:prstGeom prst="ellipse">
            <a:avLst/>
          </a:prstGeom>
          <a:solidFill>
            <a:srgbClr val="5B7DA8"/>
          </a:solidFill>
          <a:ln w="9525">
            <a:solidFill>
              <a:srgbClr val="5B7DA8"/>
            </a:solidFill>
            <a:prstDash val="solid"/>
          </a:ln>
        </p:spPr>
      </p:sp>
      <p:sp>
        <p:nvSpPr>
          <p:cNvPr id="11" name="atomLabel_393"/>
          <p:cNvSpPr txBox="1"/>
          <p:nvPr/>
        </p:nvSpPr>
        <p:spPr>
          <a:xfrm>
            <a:off x="6553048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+</a:t>
            </a:r>
            <a:endParaRPr lang="en-US" sz="1600" dirty="0"/>
          </a:p>
        </p:txBody>
      </p:sp>
      <p:sp>
        <p:nvSpPr>
          <p:cNvPr id="12" name="text_394"/>
          <p:cNvSpPr txBox="1"/>
          <p:nvPr/>
        </p:nvSpPr>
        <p:spPr>
          <a:xfrm>
            <a:off x="7238848" y="466344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 成分の補助損失とは</a:t>
            </a:r>
            <a:endParaRPr lang="en-US" sz="1700" dirty="0"/>
          </a:p>
        </p:txBody>
      </p:sp>
      <p:sp>
        <p:nvSpPr>
          <p:cNvPr id="13" name="text_395"/>
          <p:cNvSpPr txBox="1"/>
          <p:nvPr/>
        </p:nvSpPr>
        <p:spPr>
          <a:xfrm>
            <a:off x="7238848" y="5074920"/>
            <a:ext cx="4175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 だけでなく、J の内訳 fc / sd / pso / dso も一緒に当てさせる。3 位チームで効いた方法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結果：2 本の平均で -2.42</a:t>
            </a:r>
            <a:endParaRPr lang="en-US" sz="3200" dirty="0"/>
          </a:p>
        </p:txBody>
      </p:sp>
      <p:graphicFrame>
        <p:nvGraphicFramePr>
          <p:cNvPr id="3" name="chart_396" descr=""/>
          <p:cNvGraphicFramePr/>
          <p:nvPr/>
        </p:nvGraphicFramePr>
        <p:xfrm>
          <a:off x="548640" y="132588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397"/>
          <p:cNvSpPr/>
          <p:nvPr/>
        </p:nvSpPr>
        <p:spPr>
          <a:xfrm>
            <a:off x="7863840" y="1325880"/>
            <a:ext cx="37764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_398"/>
          <p:cNvSpPr txBox="1"/>
          <p:nvPr/>
        </p:nvSpPr>
        <p:spPr>
          <a:xfrm>
            <a:off x="8092440" y="13258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-2.372</a:t>
            </a:r>
            <a:endParaRPr lang="en-US" sz="2600" dirty="0"/>
          </a:p>
        </p:txBody>
      </p:sp>
      <p:sp>
        <p:nvSpPr>
          <p:cNvPr id="6" name="text_399"/>
          <p:cNvSpPr txBox="1"/>
          <p:nvPr/>
        </p:nvSpPr>
        <p:spPr>
          <a:xfrm>
            <a:off x="9601200" y="132588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基本の設定（Private）</a:t>
            </a:r>
            <a:endParaRPr lang="en-US" sz="1300" dirty="0"/>
          </a:p>
        </p:txBody>
      </p:sp>
      <p:sp>
        <p:nvSpPr>
          <p:cNvPr id="7" name="card_400"/>
          <p:cNvSpPr/>
          <p:nvPr/>
        </p:nvSpPr>
        <p:spPr>
          <a:xfrm>
            <a:off x="7863840" y="2350008"/>
            <a:ext cx="37764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_401"/>
          <p:cNvSpPr txBox="1"/>
          <p:nvPr/>
        </p:nvSpPr>
        <p:spPr>
          <a:xfrm>
            <a:off x="8092440" y="235000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-2.159</a:t>
            </a:r>
            <a:endParaRPr lang="en-US" sz="2600" dirty="0"/>
          </a:p>
        </p:txBody>
      </p:sp>
      <p:sp>
        <p:nvSpPr>
          <p:cNvPr id="9" name="text_402"/>
          <p:cNvSpPr txBox="1"/>
          <p:nvPr/>
        </p:nvSpPr>
        <p:spPr>
          <a:xfrm>
            <a:off x="9601200" y="2350008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覚え込み対策あり（検証）</a:t>
            </a:r>
            <a:endParaRPr lang="en-US" sz="1300" dirty="0"/>
          </a:p>
        </p:txBody>
      </p:sp>
      <p:sp>
        <p:nvSpPr>
          <p:cNvPr id="10" name="card_403"/>
          <p:cNvSpPr/>
          <p:nvPr/>
        </p:nvSpPr>
        <p:spPr>
          <a:xfrm>
            <a:off x="7863840" y="3374136"/>
            <a:ext cx="37764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_404"/>
          <p:cNvSpPr txBox="1"/>
          <p:nvPr/>
        </p:nvSpPr>
        <p:spPr>
          <a:xfrm>
            <a:off x="8092440" y="3374136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14E"/>
                </a:solidFill>
              </a:rPr>
              <a:t>-2.424</a:t>
            </a:r>
            <a:endParaRPr lang="en-US" sz="2600" dirty="0"/>
          </a:p>
        </p:txBody>
      </p:sp>
      <p:sp>
        <p:nvSpPr>
          <p:cNvPr id="12" name="text_405"/>
          <p:cNvSpPr txBox="1"/>
          <p:nvPr/>
        </p:nvSpPr>
        <p:spPr>
          <a:xfrm>
            <a:off x="9601200" y="3374136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 つを 7:3 で平均（Private）</a:t>
            </a:r>
            <a:endParaRPr lang="en-US" sz="1300" dirty="0"/>
          </a:p>
        </p:txBody>
      </p:sp>
      <p:sp>
        <p:nvSpPr>
          <p:cNvPr id="13" name="text_406"/>
          <p:cNvSpPr txBox="1"/>
          <p:nvPr/>
        </p:nvSpPr>
        <p:spPr>
          <a:xfrm>
            <a:off x="7863840" y="4526280"/>
            <a:ext cx="3776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検証と LB がほぼ一致（基本の設定：検証 -2.385 / Private -2.372）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覚え込み対策ありは単体では全 type で悪化。でも混ぜると +0.05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平均の重みは検証で決めた（7:3 が最良）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振り返りと次の一手</a:t>
            </a:r>
            <a:endParaRPr lang="en-US" sz="3200" dirty="0"/>
          </a:p>
        </p:txBody>
      </p:sp>
      <p:sp>
        <p:nvSpPr>
          <p:cNvPr id="3" name="text_407"/>
          <p:cNvSpPr txBox="1"/>
          <p:nvPr/>
        </p:nvSpPr>
        <p:spPr>
          <a:xfrm>
            <a:off x="548640" y="137160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</a:rPr>
              <a:t>分かったこと</a:t>
            </a:r>
            <a:endParaRPr lang="en-US" sz="2000" dirty="0"/>
          </a:p>
        </p:txBody>
      </p:sp>
      <p:sp>
        <p:nvSpPr>
          <p:cNvPr id="4" name="text_408"/>
          <p:cNvSpPr txBox="1"/>
          <p:nvPr/>
        </p:nvSpPr>
        <p:spPr>
          <a:xfrm>
            <a:off x="548640" y="1920240"/>
            <a:ext cx="536432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事前学習モデルの fine-tune で、LightGBM の上限（-2.0〜-2.1）を超えて銀メダル圏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基本の設定は学習と検証の差が拡大（学習 -3.42 / 検証 -2.39）＝ 覚え込み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覚え込み対策は 60 エポックでは逆効果。ただし混ぜると効く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1JHC・1JHN・3JHC が弱い（値の幅が大きい type）</a:t>
            </a:r>
            <a:endParaRPr lang="en-US" sz="1600" dirty="0"/>
          </a:p>
        </p:txBody>
      </p:sp>
      <p:sp>
        <p:nvSpPr>
          <p:cNvPr id="5" name="text_409"/>
          <p:cNvSpPr txBox="1"/>
          <p:nvPr/>
        </p:nvSpPr>
        <p:spPr>
          <a:xfrm>
            <a:off x="6278728" y="137160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</a:rPr>
              <a:t>次の一手</a:t>
            </a:r>
            <a:endParaRPr lang="en-US" sz="2000" dirty="0"/>
          </a:p>
        </p:txBody>
      </p:sp>
      <p:sp>
        <p:nvSpPr>
          <p:cNvPr id="6" name="atom_410"/>
          <p:cNvSpPr/>
          <p:nvPr/>
        </p:nvSpPr>
        <p:spPr>
          <a:xfrm>
            <a:off x="6278728" y="1920240"/>
            <a:ext cx="502920" cy="50292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7" name="atomLabel_411"/>
          <p:cNvSpPr txBox="1"/>
          <p:nvPr/>
        </p:nvSpPr>
        <p:spPr>
          <a:xfrm>
            <a:off x="627872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_412"/>
          <p:cNvSpPr txBox="1"/>
          <p:nvPr/>
        </p:nvSpPr>
        <p:spPr>
          <a:xfrm>
            <a:off x="6964528" y="1901952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覚え込み対策ありで、エポックを増やす</a:t>
            </a:r>
            <a:endParaRPr lang="en-US" sz="1700" dirty="0"/>
          </a:p>
        </p:txBody>
      </p:sp>
      <p:sp>
        <p:nvSpPr>
          <p:cNvPr id="9" name="text_413"/>
          <p:cNvSpPr txBox="1"/>
          <p:nvPr/>
        </p:nvSpPr>
        <p:spPr>
          <a:xfrm>
            <a:off x="6964528" y="228600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DB9B0"/>
                </a:solidFill>
              </a:rPr>
              <a:t>dropout と補助損失は学習が遅くなる。どちらが効くかも切り分ける</a:t>
            </a:r>
            <a:endParaRPr lang="en-US" sz="1400" dirty="0"/>
          </a:p>
        </p:txBody>
      </p:sp>
      <p:sp>
        <p:nvSpPr>
          <p:cNvPr id="10" name="atom_414"/>
          <p:cNvSpPr/>
          <p:nvPr/>
        </p:nvSpPr>
        <p:spPr>
          <a:xfrm>
            <a:off x="6278728" y="2971800"/>
            <a:ext cx="502920" cy="50292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1" name="atomLabel_415"/>
          <p:cNvSpPr txBox="1"/>
          <p:nvPr/>
        </p:nvSpPr>
        <p:spPr>
          <a:xfrm>
            <a:off x="6278728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_416"/>
          <p:cNvSpPr txBox="1"/>
          <p:nvPr/>
        </p:nvSpPr>
        <p:spPr>
          <a:xfrm>
            <a:off x="6964528" y="2953512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シード違いのモデルを増やして平均</a:t>
            </a:r>
            <a:endParaRPr lang="en-US" sz="1700" dirty="0"/>
          </a:p>
        </p:txBody>
      </p:sp>
      <p:sp>
        <p:nvSpPr>
          <p:cNvPr id="13" name="text_417"/>
          <p:cNvSpPr txBox="1"/>
          <p:nvPr/>
        </p:nvSpPr>
        <p:spPr>
          <a:xfrm>
            <a:off x="6964528" y="333756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DB9B0"/>
                </a:solidFill>
              </a:rPr>
              <a:t>2 本の平均で +0.05。本数を増やす</a:t>
            </a:r>
            <a:endParaRPr lang="en-US" sz="1400" dirty="0"/>
          </a:p>
        </p:txBody>
      </p:sp>
      <p:sp>
        <p:nvSpPr>
          <p:cNvPr id="14" name="atom_418"/>
          <p:cNvSpPr/>
          <p:nvPr/>
        </p:nvSpPr>
        <p:spPr>
          <a:xfrm>
            <a:off x="6278728" y="4023360"/>
            <a:ext cx="502920" cy="50292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5" name="atomLabel_419"/>
          <p:cNvSpPr txBox="1"/>
          <p:nvPr/>
        </p:nvSpPr>
        <p:spPr>
          <a:xfrm>
            <a:off x="6278728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_420"/>
          <p:cNvSpPr txBox="1"/>
          <p:nvPr/>
        </p:nvSpPr>
        <p:spPr>
          <a:xfrm>
            <a:off x="6964528" y="4005072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弱い type だけ追加で fine-tune</a:t>
            </a:r>
            <a:endParaRPr lang="en-US" sz="1700" dirty="0"/>
          </a:p>
        </p:txBody>
      </p:sp>
      <p:sp>
        <p:nvSpPr>
          <p:cNvPr id="17" name="text_421"/>
          <p:cNvSpPr txBox="1"/>
          <p:nvPr/>
        </p:nvSpPr>
        <p:spPr>
          <a:xfrm>
            <a:off x="6964528" y="43891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DB9B0"/>
                </a:solidFill>
              </a:rPr>
              <a:t>2・3・4 位の方式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MPS Uni-Mol">
  <a:themeElements>
    <a:clrScheme name="CHAMPS Uni-Mol">
      <a:dk1>
        <a:srgbClr val="1B2A2F"/>
      </a:dk1>
      <a:lt1>
        <a:srgbClr val="FFFFFF"/>
      </a:lt1>
      <a:dk2>
        <a:srgbClr val="17424A"/>
      </a:dk2>
      <a:lt2>
        <a:srgbClr val="EAF2F1"/>
      </a:lt2>
      <a:accent1>
        <a:srgbClr val="1F7A78"/>
      </a:accent1>
      <a:accent2>
        <a:srgbClr val="E8833A"/>
      </a:accent2>
      <a:accent3>
        <a:srgbClr val="5B7DA8"/>
      </a:accent3>
      <a:accent4>
        <a:srgbClr val="B5446E"/>
      </a:accent4>
      <a:accent5>
        <a:srgbClr val="9DB9B0"/>
      </a:accent5>
      <a:accent6>
        <a:srgbClr val="F2C14E"/>
      </a:accent6>
      <a:hlink>
        <a:srgbClr val="1F7A78"/>
      </a:hlink>
      <a:folHlink>
        <a:srgbClr val="5B7DA8"/>
      </a:folHlink>
    </a:clrScheme>
    <a:fontScheme name="CHAMPS Uni-Mol">
      <a:majorFont>
        <a:latin typeface="Yu Gothic"/>
        <a:ea typeface="Yu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CHAMPS Scalar Coupling に Uni-Mol で挑んでみた</dc:title>
  <dc:subject>Kaggle Predicting Molecular Properties の振り返り（勉強会）</dc:subject>
  <dc:creator>PptxGenJS</dc:creator>
  <cp:lastModifiedBy>PptxGenJS</cp:lastModifiedBy>
  <cp:revision>1</cp:revision>
  <dcterms:created xsi:type="dcterms:W3CDTF">2026-10-25T23:59:03Z</dcterms:created>
  <dcterms:modified xsi:type="dcterms:W3CDTF">2026-10-25T23:59:03Z</dcterms:modified>
</cp:coreProperties>
</file>