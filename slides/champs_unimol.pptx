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d529950a-4cdd-2c60-02ce-e76415ffe094}">
          <p14:sldIdLst>
            <p14:sldId id="256"/>
            <p14:sldId id="257"/>
            <p14:sldId id="258"/>
            <p14:sldId id="259"/>
          </p14:sldIdLst>
        </p14:section>
        <p14:section name="調査と方針" id="{fe433386-e377-6d06-51ad-ae912c4ae08e}">
          <p14:sldIdLst>
            <p14:sldId id="260"/>
            <p14:sldId id="261"/>
            <p14:sldId id="262"/>
          </p14:sldIdLst>
        </p14:section>
        <p14:section name="EDA" id="{3acb8395-8455-7e02-e568-6f7b9c67b941}">
          <p14:sldIdLst>
            <p14:sldId id="263"/>
            <p14:sldId id="264"/>
          </p14:sldIdLst>
        </p14:section>
        <p14:section name="Uni-Mol" id="{478179da-81b6-f42c-1807-688953a60be9}">
          <p14:sldIdLst>
            <p14:sldId id="265"/>
            <p14:sldId id="266"/>
            <p14:sldId id="267"/>
            <p14:sldId id="268"/>
            <p14:sldId id="269"/>
          </p14:sldIdLst>
        </p14:section>
        <p14:section name="結果" id="{8cc0a41f-59f6-066b-aa9a-b489f9313527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42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424A"/>
                </a:solidFill>
                <a:latin typeface="+mn-lt"/>
              </a:rPr>
              <a:t>1JHC の中央値 [Hz]（train 先頭 15 万件）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1JHC の中央値 [Hz]</c:v>
                </c:pt>
              </c:strCache>
            </c:strRef>
          </c:tx>
          <c:spPr>
            <a:solidFill>
              <a:srgbClr val="1F7A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単結合だけ (sp3)</c:v>
                  </c:pt>
                  <c:pt idx="1">
                    <c:v>二重結合 (sp2)</c:v>
                  </c:pt>
                  <c:pt idx="2">
                    <c:v>三重結合 (sp)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87.4</c:v>
                </c:pt>
                <c:pt idx="1">
                  <c:v>128.9</c:v>
                </c:pt>
                <c:pt idx="2">
                  <c:v>196.6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42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424A"/>
                </a:solidFill>
                <a:latin typeface="+mn-lt"/>
              </a:rPr>
              <a:t>モデルなし（グループごとの中央値で予測）の score　※低いほど良い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9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9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9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9B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＋距離</c:v>
                  </c:pt>
                  <c:pt idx="1">
                    <c:v>経路サブタイプ＋角度・二面角</c:v>
                  </c:pt>
                  <c:pt idx="2">
                    <c:v>角度・二面角</c:v>
                  </c:pt>
                  <c:pt idx="3">
                    <c:v>距離</c:v>
                  </c:pt>
                  <c:pt idx="4">
                    <c:v>経路サブタイプ</c:v>
                  </c:pt>
                  <c:pt idx="5">
                    <c:v>type のみ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0.277</c:v>
                </c:pt>
                <c:pt idx="1">
                  <c:v>0.416</c:v>
                </c:pt>
                <c:pt idx="2">
                  <c:v>0.714</c:v>
                </c:pt>
                <c:pt idx="3">
                  <c:v>0.788</c:v>
                </c:pt>
                <c:pt idx="4">
                  <c:v>0.962</c:v>
                </c:pt>
                <c:pt idx="5">
                  <c:v>1.186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42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424A"/>
                </a:solidFill>
                <a:latin typeface="+mn-lt"/>
              </a:rPr>
              <a:t>検証 score の推移（エポックごと、低いほど良い）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基本の設定</c:v>
                </c:pt>
              </c:strCache>
            </c:strRef>
          </c:tx>
          <c:spPr>
            <a:solidFill>
              <a:srgbClr val="E8833A"/>
            </a:solidFill>
            <a:ln w="31750" cap="flat">
              <a:solidFill>
                <a:srgbClr val="E883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833A"/>
              </a:solidFill>
              <a:ln w="9525" cap="flat">
                <a:solidFill>
                  <a:srgbClr val="E883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-0.35261739045381546</c:v>
                </c:pt>
                <c:pt idx="1">
                  <c:v>-0.606992844492197</c:v>
                </c:pt>
                <c:pt idx="2">
                  <c:v>-1.0219152607023716</c:v>
                </c:pt>
                <c:pt idx="3">
                  <c:v>-1.2505300007760525</c:v>
                </c:pt>
                <c:pt idx="4">
                  <c:v>-1.2280814908444881</c:v>
                </c:pt>
                <c:pt idx="5">
                  <c:v>-1.2871790006756783</c:v>
                </c:pt>
                <c:pt idx="6">
                  <c:v>-1.2400355427525938</c:v>
                </c:pt>
                <c:pt idx="7">
                  <c:v>-1.4465269539505243</c:v>
                </c:pt>
                <c:pt idx="8">
                  <c:v>-1.5710936486721039</c:v>
                </c:pt>
                <c:pt idx="9">
                  <c:v>-1.4072920493781567</c:v>
                </c:pt>
                <c:pt idx="10">
                  <c:v>-1.5875214189291</c:v>
                </c:pt>
                <c:pt idx="11">
                  <c:v>-1.6207535490393639</c:v>
                </c:pt>
                <c:pt idx="12">
                  <c:v>-1.6444807350635529</c:v>
                </c:pt>
                <c:pt idx="13">
                  <c:v>-1.5870033949613571</c:v>
                </c:pt>
                <c:pt idx="14">
                  <c:v>-1.7602532655000687</c:v>
                </c:pt>
                <c:pt idx="15">
                  <c:v>-1.801756590604782</c:v>
                </c:pt>
                <c:pt idx="16">
                  <c:v>-1.7085928618907928</c:v>
                </c:pt>
                <c:pt idx="17">
                  <c:v>-1.7221053391695023</c:v>
                </c:pt>
                <c:pt idx="18">
                  <c:v>-1.9050854966044426</c:v>
                </c:pt>
                <c:pt idx="19">
                  <c:v>-1.8407059088349342</c:v>
                </c:pt>
                <c:pt idx="20">
                  <c:v>-1.796782560646534</c:v>
                </c:pt>
                <c:pt idx="21">
                  <c:v>-1.8459641486406326</c:v>
                </c:pt>
                <c:pt idx="22">
                  <c:v>-1.9236529171466827</c:v>
                </c:pt>
                <c:pt idx="23">
                  <c:v>-1.9871537685394287</c:v>
                </c:pt>
                <c:pt idx="24">
                  <c:v>-1.9169714227318764</c:v>
                </c:pt>
                <c:pt idx="25">
                  <c:v>-2.0501707643270493</c:v>
                </c:pt>
                <c:pt idx="26">
                  <c:v>-2.02529114484787</c:v>
                </c:pt>
                <c:pt idx="27">
                  <c:v>-2.046690955758095</c:v>
                </c:pt>
                <c:pt idx="28">
                  <c:v>-2.09553524851799</c:v>
                </c:pt>
                <c:pt idx="29">
                  <c:v>-2.096738412976265</c:v>
                </c:pt>
                <c:pt idx="30">
                  <c:v>-2.105332374572754</c:v>
                </c:pt>
                <c:pt idx="31">
                  <c:v>-2.144959792494774</c:v>
                </c:pt>
                <c:pt idx="32">
                  <c:v>-2.086927115917206</c:v>
                </c:pt>
                <c:pt idx="33">
                  <c:v>-2.135652869939804</c:v>
                </c:pt>
                <c:pt idx="34">
                  <c:v>-2.185067892074585</c:v>
                </c:pt>
                <c:pt idx="35">
                  <c:v>-2.228165179491043</c:v>
                </c:pt>
                <c:pt idx="36">
                  <c:v>-2.219630017876625</c:v>
                </c:pt>
                <c:pt idx="37">
                  <c:v>-2.190209910273552</c:v>
                </c:pt>
                <c:pt idx="38">
                  <c:v>-2.253091737627983</c:v>
                </c:pt>
                <c:pt idx="39">
                  <c:v>-2.1814526319503784</c:v>
                </c:pt>
                <c:pt idx="40">
                  <c:v>-2.2536073476076126</c:v>
                </c:pt>
                <c:pt idx="41">
                  <c:v>-2.3003451824188232</c:v>
                </c:pt>
                <c:pt idx="42">
                  <c:v>-2.2958004027605057</c:v>
                </c:pt>
                <c:pt idx="43">
                  <c:v>-2.307560607790947</c:v>
                </c:pt>
                <c:pt idx="44">
                  <c:v>-2.3200646191835403</c:v>
                </c:pt>
                <c:pt idx="45">
                  <c:v>-2.329009085893631</c:v>
                </c:pt>
                <c:pt idx="46">
                  <c:v>-2.345653608441353</c:v>
                </c:pt>
                <c:pt idx="47">
                  <c:v>-2.344652220606804</c:v>
                </c:pt>
                <c:pt idx="48">
                  <c:v>-2.337843954563141</c:v>
                </c:pt>
                <c:pt idx="49">
                  <c:v>-2.3653458058834076</c:v>
                </c:pt>
                <c:pt idx="50">
                  <c:v>-2.364255502820015</c:v>
                </c:pt>
                <c:pt idx="51">
                  <c:v>-2.370897337794304</c:v>
                </c:pt>
                <c:pt idx="52">
                  <c:v>-2.3740935623645782</c:v>
                </c:pt>
                <c:pt idx="53">
                  <c:v>-2.3780556321144104</c:v>
                </c:pt>
                <c:pt idx="54">
                  <c:v>-2.3814509361982346</c:v>
                </c:pt>
                <c:pt idx="55">
                  <c:v>-2.3820672035217285</c:v>
                </c:pt>
                <c:pt idx="56">
                  <c:v>-2.3837027698755264</c:v>
                </c:pt>
                <c:pt idx="57">
                  <c:v>-2.385093405842781</c:v>
                </c:pt>
                <c:pt idx="58">
                  <c:v>-2.3848379850387573</c:v>
                </c:pt>
                <c:pt idx="59">
                  <c:v>-2.3847651928663254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覚え込み対策あり</c:v>
                </c:pt>
              </c:strCache>
            </c:strRef>
          </c:tx>
          <c:spPr>
            <a:solidFill>
              <a:srgbClr val="5B7DA8"/>
            </a:solidFill>
            <a:ln w="31750" cap="flat">
              <a:solidFill>
                <a:srgbClr val="5B7D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7DA8"/>
              </a:solidFill>
              <a:ln w="9525" cap="flat">
                <a:solidFill>
                  <a:srgbClr val="5B7D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-0.28322533749451395</c:v>
                </c:pt>
                <c:pt idx="1">
                  <c:v>-0.5997959226369858</c:v>
                </c:pt>
                <c:pt idx="2">
                  <c:v>-0.8478513729060069</c:v>
                </c:pt>
                <c:pt idx="3">
                  <c:v>-0.9910743650980294</c:v>
                </c:pt>
                <c:pt idx="4">
                  <c:v>-1.0634337617084384</c:v>
                </c:pt>
                <c:pt idx="5">
                  <c:v>-1.1425768653862178</c:v>
                </c:pt>
                <c:pt idx="6">
                  <c:v>-1.210748152807355</c:v>
                </c:pt>
                <c:pt idx="7">
                  <c:v>-1.3288299776613712</c:v>
                </c:pt>
                <c:pt idx="8">
                  <c:v>-1.3335336446762085</c:v>
                </c:pt>
                <c:pt idx="9">
                  <c:v>-1.2381432596594095</c:v>
                </c:pt>
                <c:pt idx="10">
                  <c:v>-1.4873097352683544</c:v>
                </c:pt>
                <c:pt idx="11">
                  <c:v>-1.4433478489518166</c:v>
                </c:pt>
                <c:pt idx="12">
                  <c:v>-1.44350491091609</c:v>
                </c:pt>
                <c:pt idx="13">
                  <c:v>-1.446251168847084</c:v>
                </c:pt>
                <c:pt idx="14">
                  <c:v>-1.583189845085144</c:v>
                </c:pt>
                <c:pt idx="15">
                  <c:v>-1.5842050537467003</c:v>
                </c:pt>
                <c:pt idx="16">
                  <c:v>-1.580026425421238</c:v>
                </c:pt>
                <c:pt idx="17">
                  <c:v>-1.6275773793458939</c:v>
                </c:pt>
                <c:pt idx="18">
                  <c:v>-1.651950791478157</c:v>
                </c:pt>
                <c:pt idx="19">
                  <c:v>-1.6477342918515205</c:v>
                </c:pt>
                <c:pt idx="20">
                  <c:v>-1.6462909579277039</c:v>
                </c:pt>
                <c:pt idx="21">
                  <c:v>-1.7269815728068352</c:v>
                </c:pt>
                <c:pt idx="22">
                  <c:v>-1.7426797747612</c:v>
                </c:pt>
                <c:pt idx="23">
                  <c:v>-1.7831111252307892</c:v>
                </c:pt>
                <c:pt idx="24">
                  <c:v>-1.7801363170146942</c:v>
                </c:pt>
                <c:pt idx="25">
                  <c:v>-1.7591970786452293</c:v>
                </c:pt>
                <c:pt idx="26">
                  <c:v>-1.8231912329792976</c:v>
                </c:pt>
                <c:pt idx="27">
                  <c:v>-1.6696122884750366</c:v>
                </c:pt>
                <c:pt idx="28">
                  <c:v>-1.811135470867157</c:v>
                </c:pt>
                <c:pt idx="29">
                  <c:v>-1.8547076433897018</c:v>
                </c:pt>
                <c:pt idx="30">
                  <c:v>-1.8121564909815788</c:v>
                </c:pt>
                <c:pt idx="31">
                  <c:v>-1.903010480105877</c:v>
                </c:pt>
                <c:pt idx="32">
                  <c:v>-1.89402936398983</c:v>
                </c:pt>
                <c:pt idx="33">
                  <c:v>-1.8750210478901863</c:v>
                </c:pt>
                <c:pt idx="34">
                  <c:v>-1.838464617729187</c:v>
                </c:pt>
                <c:pt idx="35">
                  <c:v>-1.9018409848213196</c:v>
                </c:pt>
                <c:pt idx="36">
                  <c:v>-1.993573747575283</c:v>
                </c:pt>
                <c:pt idx="37">
                  <c:v>-1.8823684677481651</c:v>
                </c:pt>
                <c:pt idx="38">
                  <c:v>-1.9951830208301544</c:v>
                </c:pt>
                <c:pt idx="39">
                  <c:v>-1.9173186048865318</c:v>
                </c:pt>
                <c:pt idx="40">
                  <c:v>-1.9878048449754715</c:v>
                </c:pt>
                <c:pt idx="41">
                  <c:v>-2.016011469066143</c:v>
                </c:pt>
                <c:pt idx="42">
                  <c:v>-2.042349860072136</c:v>
                </c:pt>
                <c:pt idx="43">
                  <c:v>-2.0578484535217285</c:v>
                </c:pt>
                <c:pt idx="44">
                  <c:v>-2.0618816316127777</c:v>
                </c:pt>
                <c:pt idx="45">
                  <c:v>-2.0674204379320145</c:v>
                </c:pt>
                <c:pt idx="46">
                  <c:v>-2.1174390092492104</c:v>
                </c:pt>
                <c:pt idx="47">
                  <c:v>-2.1031041890382767</c:v>
                </c:pt>
                <c:pt idx="48">
                  <c:v>-2.108526401221752</c:v>
                </c:pt>
                <c:pt idx="49">
                  <c:v>-2.1197355464100838</c:v>
                </c:pt>
                <c:pt idx="50">
                  <c:v>-2.118889704346657</c:v>
                </c:pt>
                <c:pt idx="51">
                  <c:v>-2.1237103790044785</c:v>
                </c:pt>
                <c:pt idx="52">
                  <c:v>-2.153963103890419</c:v>
                </c:pt>
                <c:pt idx="53">
                  <c:v>-2.1368854865431786</c:v>
                </c:pt>
                <c:pt idx="54">
                  <c:v>-2.1444103345274925</c:v>
                </c:pt>
                <c:pt idx="55">
                  <c:v>-2.1555505096912384</c:v>
                </c:pt>
                <c:pt idx="56">
                  <c:v>-2.157582588493824</c:v>
                </c:pt>
                <c:pt idx="57">
                  <c:v>-2.157852977514267</c:v>
                </c:pt>
                <c:pt idx="58">
                  <c:v>-2.159155696630478</c:v>
                </c:pt>
                <c:pt idx="59">
                  <c:v>-2.1584283262491226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0"/>
          <c:min val="-2.6"/>
        </c:scaling>
        <c:delete val="0"/>
        <c:axPos val="l"/>
        <c:majorGridlines>
          <c:spPr>
            <a:ln w="9525" cap="flat">
              <a:solidFill>
                <a:srgbClr val="EAF2F1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勉強会用の振り返りです。2019年の Kaggle コンペ「Predicting Molecular Properties」（CHAMPS）を、事前学習済みの 3D 分子モデル Uni-Mol で解いてみた話をします。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流れは5つです。結論を先に言うと、Uni-Mol を fine-tune したモデル2本の平均で Private -2.424、当時の最終順位なら38位前後でした。1本だけだと -2.372（42位前後）です。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 は NMR で測れる量で、DFT で計算すると重い。8種類の type があり、指標は type 別の log(MAE) の平均。件数が少ない type も同じ重みで効くのがポイントです。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入力に使えるのは原子の種類と座標、どのペアか、type だけ。4成分や電荷は train にしかないので、使うなら補助ターゲット。結合や角度は自分で計算するか、モデルに学ばせる必要があります。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上位10チームの解法です。上位4チームはすべて attention 系。2位は座標と原子種と type だけを Transformer に入れて、単体モデルで -3.16 を出しています。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共通点は3つ。attention 系が強い、距離や角度などの幾何情報をどう入れるかが鍵、type 別の出力と長い学習。特に2つ目が、あとの EDA と Uni-Mol の話につながります。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条件はシンプル・Transformer・Colab Pro 1か月。最初は2位方式をベースに考えましたが、2位は計算資源が桁違い。そこで、まず EDA で何が効くのかを確かめることにしました。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上位が効いたと言っていた要素をデータで確認。1JHC は C の混成で 87→129→197Hz と大きく変わる。3JHH は二面角でいわゆる Karplus 曲線が出て、中間の原子によって形も変わります。結合は距離から判定しましたが、RDKit と 99.96% の分子で一致しました。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どれくらい効くかを、モデルを使わずに数値化しました。経路サブタイプ＋角度・二面角＋距離で 1.19 から 0.28 まで下がる。ただ上位は -3.2 なので、残りはモデルが学ぶ部分です。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2位の真似では予算的に再現が精一杯なので、2019年以降に出てきた 3D 分子の事前学習モデル Uni-Mol を使いました。理由は4つ。ペアの表現を持つ、事前学習済み、軽い、水素込みの重みがある。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入力は原子の種類と座標。距離をガウス関数で展開して attention のバイアスに足し、各層の attention スコアを次の層のペア表現として引き継ぎます。出力は原子の表現とペアの表現。事前学習は原子を隠して当てる、ずらした座標を戻す、の2つです。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で効くと分かった要素は、Uni-Mol の中ではすべて距離から表現できます。角度や二面角も、3〜4原子の距離の組で決まる。実際、ペア表現から原子間距離を 0.05Å の誤差で再現できたので、形の情報はちゃんと入っています。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出力部分はシンプルです。原子 i と j の表現、ペアの表現、type の埋め込みを MLP に入れて、type ごとに4成分を出し、その合計を J にします。損失は評価指標そのもの。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Uni-Mol の動かし方です。重みは Hugging Face から。入力の形と語彙の順番を公式に合わせました。読み込めたかは、事前学習の距離予測部分で原子間距離が 0.05Å の誤差で再現できるかで確認。そのあと J を出す部分を付けて Colab の A100 で fine-tune 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Uni-Mol の fine-tune を、設定を変えて2回学習しました。1つ目は基本の設定。学習と検証の差が開いて覚え込みが目立ったので、2つ目は dropout と、J の4成分も一緒に当てさせる補助損失を入れた「覚え込み対策あり」です。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基本の設定は検証 -2.385、Private -2.372。覚え込み対策ありは、単体では全 type で悪化しました。それでも 7:3 で混ぜると Private -2.424 まで伸びて、当時の順位なら38位前後です。検証と LB はほぼ一致していました。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事前学習モデルの fine-tune で銀メダル圏まで来ました。課題は覚え込みと、1JHC などの弱い type。覚え込み対策ありは60エポックでは学習不足だったようなので、エポックを増やして試したい。あとはモデルを増やして平均、弱い type の fine-tune 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DB9B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9B0"/>
                </a:solidFill>
              </a:rPr>
              <a:t>CHAMPS × Uni-Mol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CHAMPS Scalar Coupling に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Uni-Mol で挑んでみた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DB9B0"/>
                </a:solidFill>
              </a:rPr>
              <a:t>Kaggle「Predicting Molecular Properties」（2019）の振り返り</a:t>
            </a:r>
            <a:endParaRPr lang="en-US" sz="1800" dirty="0"/>
          </a:p>
        </p:txBody>
      </p:sp>
      <p:sp>
        <p:nvSpPr>
          <p:cNvPr id="4" name="bond_1"/>
          <p:cNvSpPr/>
          <p:nvPr/>
        </p:nvSpPr>
        <p:spPr>
          <a:xfrm>
            <a:off x="8732520" y="3017520"/>
            <a:ext cx="2514600" cy="0"/>
          </a:xfrm>
          <a:prstGeom prst="line">
            <a:avLst/>
          </a:prstGeom>
          <a:noFill/>
          <a:ln w="31750">
            <a:solidFill>
              <a:srgbClr val="9DB9B0"/>
            </a:solidFill>
            <a:prstDash val="solid"/>
          </a:ln>
        </p:spPr>
      </p:sp>
      <p:sp>
        <p:nvSpPr>
          <p:cNvPr id="5" name="bond_2"/>
          <p:cNvSpPr/>
          <p:nvPr/>
        </p:nvSpPr>
        <p:spPr>
          <a:xfrm>
            <a:off x="9418320" y="2148840"/>
            <a:ext cx="0" cy="1920240"/>
          </a:xfrm>
          <a:prstGeom prst="line">
            <a:avLst/>
          </a:prstGeom>
          <a:noFill/>
          <a:ln w="31750">
            <a:solidFill>
              <a:srgbClr val="9DB9B0"/>
            </a:solidFill>
            <a:prstDash val="solid"/>
          </a:ln>
        </p:spPr>
      </p:sp>
      <p:sp>
        <p:nvSpPr>
          <p:cNvPr id="6" name="bond_3"/>
          <p:cNvSpPr/>
          <p:nvPr/>
        </p:nvSpPr>
        <p:spPr>
          <a:xfrm>
            <a:off x="10515600" y="2148840"/>
            <a:ext cx="0" cy="1920240"/>
          </a:xfrm>
          <a:prstGeom prst="line">
            <a:avLst/>
          </a:prstGeom>
          <a:noFill/>
          <a:ln w="31750">
            <a:solidFill>
              <a:srgbClr val="9DB9B0"/>
            </a:solidFill>
            <a:prstDash val="solid"/>
          </a:ln>
        </p:spPr>
      </p:sp>
      <p:sp>
        <p:nvSpPr>
          <p:cNvPr id="7" name="atom_4"/>
          <p:cNvSpPr/>
          <p:nvPr/>
        </p:nvSpPr>
        <p:spPr>
          <a:xfrm>
            <a:off x="8503920" y="278892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atomLabel_5"/>
          <p:cNvSpPr txBox="1"/>
          <p:nvPr/>
        </p:nvSpPr>
        <p:spPr>
          <a:xfrm>
            <a:off x="85039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</a:t>
            </a:r>
            <a:endParaRPr lang="en-US" sz="1600" dirty="0"/>
          </a:p>
        </p:txBody>
      </p:sp>
      <p:sp>
        <p:nvSpPr>
          <p:cNvPr id="9" name="atom_6"/>
          <p:cNvSpPr/>
          <p:nvPr/>
        </p:nvSpPr>
        <p:spPr>
          <a:xfrm>
            <a:off x="9098280" y="2697480"/>
            <a:ext cx="640080" cy="64008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0" name="atomLabel_7"/>
          <p:cNvSpPr txBox="1"/>
          <p:nvPr/>
        </p:nvSpPr>
        <p:spPr>
          <a:xfrm>
            <a:off x="90982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1" name="atom_8"/>
          <p:cNvSpPr/>
          <p:nvPr/>
        </p:nvSpPr>
        <p:spPr>
          <a:xfrm>
            <a:off x="10195560" y="2697480"/>
            <a:ext cx="640080" cy="64008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2" name="atomLabel_9"/>
          <p:cNvSpPr txBox="1"/>
          <p:nvPr/>
        </p:nvSpPr>
        <p:spPr>
          <a:xfrm>
            <a:off x="1019556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3" name="atom_10"/>
          <p:cNvSpPr/>
          <p:nvPr/>
        </p:nvSpPr>
        <p:spPr>
          <a:xfrm>
            <a:off x="11018520" y="278892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atomLabel_11"/>
          <p:cNvSpPr txBox="1"/>
          <p:nvPr/>
        </p:nvSpPr>
        <p:spPr>
          <a:xfrm>
            <a:off x="110185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</a:t>
            </a:r>
            <a:endParaRPr lang="en-US" sz="1600" dirty="0"/>
          </a:p>
        </p:txBody>
      </p:sp>
      <p:sp>
        <p:nvSpPr>
          <p:cNvPr id="15" name="atom_12"/>
          <p:cNvSpPr/>
          <p:nvPr/>
        </p:nvSpPr>
        <p:spPr>
          <a:xfrm>
            <a:off x="9189720" y="1920240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6" name="atomLabel_13"/>
          <p:cNvSpPr txBox="1"/>
          <p:nvPr/>
        </p:nvSpPr>
        <p:spPr>
          <a:xfrm>
            <a:off x="9189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</a:t>
            </a:r>
            <a:endParaRPr lang="en-US" sz="1600" dirty="0"/>
          </a:p>
        </p:txBody>
      </p:sp>
      <p:sp>
        <p:nvSpPr>
          <p:cNvPr id="17" name="atom_14"/>
          <p:cNvSpPr/>
          <p:nvPr/>
        </p:nvSpPr>
        <p:spPr>
          <a:xfrm>
            <a:off x="10287000" y="1920240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8" name="atomLabel_15"/>
          <p:cNvSpPr txBox="1"/>
          <p:nvPr/>
        </p:nvSpPr>
        <p:spPr>
          <a:xfrm>
            <a:off x="10287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</a:t>
            </a:r>
            <a:endParaRPr lang="en-US" sz="1600" dirty="0"/>
          </a:p>
        </p:txBody>
      </p:sp>
      <p:sp>
        <p:nvSpPr>
          <p:cNvPr id="19" name="atom_16"/>
          <p:cNvSpPr/>
          <p:nvPr/>
        </p:nvSpPr>
        <p:spPr>
          <a:xfrm>
            <a:off x="9189720" y="384048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atomLabel_17"/>
          <p:cNvSpPr txBox="1"/>
          <p:nvPr/>
        </p:nvSpPr>
        <p:spPr>
          <a:xfrm>
            <a:off x="91897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</a:t>
            </a:r>
            <a:endParaRPr lang="en-US" sz="1600" dirty="0"/>
          </a:p>
        </p:txBody>
      </p:sp>
      <p:sp>
        <p:nvSpPr>
          <p:cNvPr id="21" name="atom_18"/>
          <p:cNvSpPr/>
          <p:nvPr/>
        </p:nvSpPr>
        <p:spPr>
          <a:xfrm>
            <a:off x="10287000" y="384048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atomLabel_19"/>
          <p:cNvSpPr txBox="1"/>
          <p:nvPr/>
        </p:nvSpPr>
        <p:spPr>
          <a:xfrm>
            <a:off x="102870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</a:t>
            </a:r>
            <a:endParaRPr lang="en-US" sz="1600" dirty="0"/>
          </a:p>
        </p:txBody>
      </p:sp>
      <p:sp>
        <p:nvSpPr>
          <p:cNvPr id="23" name="text_20"/>
          <p:cNvSpPr txBox="1"/>
          <p:nvPr/>
        </p:nvSpPr>
        <p:spPr>
          <a:xfrm>
            <a:off x="9281160" y="1417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14E"/>
                </a:solidFill>
              </a:rPr>
              <a:t>3JHH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今日の話</a:t>
            </a:r>
            <a:endParaRPr lang="en-US" sz="3200" dirty="0"/>
          </a:p>
        </p:txBody>
      </p:sp>
      <p:sp>
        <p:nvSpPr>
          <p:cNvPr id="3" name="atom_2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4" name="atomLabel_22"/>
          <p:cNvSpPr txBox="1"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bond_23"/>
          <p:cNvSpPr/>
          <p:nvPr/>
        </p:nvSpPr>
        <p:spPr>
          <a:xfrm>
            <a:off x="832104" y="1984248"/>
            <a:ext cx="0" cy="347472"/>
          </a:xfrm>
          <a:prstGeom prst="line">
            <a:avLst/>
          </a:prstGeom>
          <a:noFill/>
          <a:ln w="25400">
            <a:solidFill>
              <a:srgbClr val="9DB9B0"/>
            </a:solidFill>
            <a:prstDash val="solid"/>
          </a:ln>
        </p:spPr>
      </p:sp>
      <p:sp>
        <p:nvSpPr>
          <p:cNvPr id="6" name="text_24"/>
          <p:cNvSpPr txBox="1"/>
          <p:nvPr/>
        </p:nvSpPr>
        <p:spPr>
          <a:xfrm>
            <a:off x="1325880" y="1435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上位解法を調べる</a:t>
            </a:r>
            <a:endParaRPr lang="en-US" sz="1800" dirty="0"/>
          </a:p>
        </p:txBody>
      </p:sp>
      <p:sp>
        <p:nvSpPr>
          <p:cNvPr id="7" name="text_25"/>
          <p:cNvSpPr txBox="1"/>
          <p:nvPr/>
        </p:nvSpPr>
        <p:spPr>
          <a:xfrm>
            <a:off x="1325880" y="1746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DA8"/>
                </a:solidFill>
              </a:rPr>
              <a:t>上位は何で勝ったか</a:t>
            </a:r>
            <a:endParaRPr lang="en-US" sz="1400" dirty="0"/>
          </a:p>
        </p:txBody>
      </p:sp>
      <p:sp>
        <p:nvSpPr>
          <p:cNvPr id="8" name="atom_26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9" name="atomLabel_27"/>
          <p:cNvSpPr txBox="1"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bond_28"/>
          <p:cNvSpPr/>
          <p:nvPr/>
        </p:nvSpPr>
        <p:spPr>
          <a:xfrm>
            <a:off x="832104" y="2898648"/>
            <a:ext cx="0" cy="347472"/>
          </a:xfrm>
          <a:prstGeom prst="line">
            <a:avLst/>
          </a:prstGeom>
          <a:noFill/>
          <a:ln w="25400">
            <a:solidFill>
              <a:srgbClr val="9DB9B0"/>
            </a:solidFill>
            <a:prstDash val="solid"/>
          </a:ln>
        </p:spPr>
      </p:sp>
      <p:sp>
        <p:nvSpPr>
          <p:cNvPr id="11" name="text_29"/>
          <p:cNvSpPr txBox="1"/>
          <p:nvPr/>
        </p:nvSpPr>
        <p:spPr>
          <a:xfrm>
            <a:off x="1325880" y="23500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方針を立てる</a:t>
            </a:r>
            <a:endParaRPr lang="en-US" sz="1800" dirty="0"/>
          </a:p>
        </p:txBody>
      </p:sp>
      <p:sp>
        <p:nvSpPr>
          <p:cNvPr id="12" name="text_30"/>
          <p:cNvSpPr txBox="1"/>
          <p:nvPr/>
        </p:nvSpPr>
        <p:spPr>
          <a:xfrm>
            <a:off x="1325880" y="2660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DA8"/>
                </a:solidFill>
              </a:rPr>
              <a:t>シンプル・Transformer・Colab Pro 1か月</a:t>
            </a:r>
            <a:endParaRPr lang="en-US" sz="1400" dirty="0"/>
          </a:p>
        </p:txBody>
      </p:sp>
      <p:sp>
        <p:nvSpPr>
          <p:cNvPr id="13" name="atom_31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4" name="atomLabel_32"/>
          <p:cNvSpPr txBox="1"/>
          <p:nvPr/>
        </p:nvSpPr>
        <p:spPr>
          <a:xfrm>
            <a:off x="54864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bond_33"/>
          <p:cNvSpPr/>
          <p:nvPr/>
        </p:nvSpPr>
        <p:spPr>
          <a:xfrm>
            <a:off x="832104" y="3813048"/>
            <a:ext cx="0" cy="347472"/>
          </a:xfrm>
          <a:prstGeom prst="line">
            <a:avLst/>
          </a:prstGeom>
          <a:noFill/>
          <a:ln w="25400">
            <a:solidFill>
              <a:srgbClr val="9DB9B0"/>
            </a:solidFill>
            <a:prstDash val="solid"/>
          </a:ln>
        </p:spPr>
      </p:sp>
      <p:sp>
        <p:nvSpPr>
          <p:cNvPr id="16" name="text_34"/>
          <p:cNvSpPr txBox="1"/>
          <p:nvPr/>
        </p:nvSpPr>
        <p:spPr>
          <a:xfrm>
            <a:off x="1325880" y="3264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EDA で裏を取る</a:t>
            </a:r>
            <a:endParaRPr lang="en-US" sz="1800" dirty="0"/>
          </a:p>
        </p:txBody>
      </p:sp>
      <p:sp>
        <p:nvSpPr>
          <p:cNvPr id="17" name="text_35"/>
          <p:cNvSpPr txBox="1"/>
          <p:nvPr/>
        </p:nvSpPr>
        <p:spPr>
          <a:xfrm>
            <a:off x="1325880" y="3575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DA8"/>
                </a:solidFill>
              </a:rPr>
              <a:t>上位が効くと言った要素は本当に効くか</a:t>
            </a:r>
            <a:endParaRPr lang="en-US" sz="1400" dirty="0"/>
          </a:p>
        </p:txBody>
      </p:sp>
      <p:sp>
        <p:nvSpPr>
          <p:cNvPr id="18" name="atom_36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9" name="atomLabel_37"/>
          <p:cNvSpPr txBox="1"/>
          <p:nvPr/>
        </p:nvSpPr>
        <p:spPr>
          <a:xfrm>
            <a:off x="54864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bond_38"/>
          <p:cNvSpPr/>
          <p:nvPr/>
        </p:nvSpPr>
        <p:spPr>
          <a:xfrm>
            <a:off x="832104" y="4727448"/>
            <a:ext cx="0" cy="347472"/>
          </a:xfrm>
          <a:prstGeom prst="line">
            <a:avLst/>
          </a:prstGeom>
          <a:noFill/>
          <a:ln w="25400">
            <a:solidFill>
              <a:srgbClr val="9DB9B0"/>
            </a:solidFill>
            <a:prstDash val="solid"/>
          </a:ln>
        </p:spPr>
      </p:sp>
      <p:sp>
        <p:nvSpPr>
          <p:cNvPr id="21" name="text_39"/>
          <p:cNvSpPr txBox="1"/>
          <p:nvPr/>
        </p:nvSpPr>
        <p:spPr>
          <a:xfrm>
            <a:off x="1325880" y="4178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Uni-Mol を選んで作る</a:t>
            </a:r>
            <a:endParaRPr lang="en-US" sz="1800" dirty="0"/>
          </a:p>
        </p:txBody>
      </p:sp>
      <p:sp>
        <p:nvSpPr>
          <p:cNvPr id="22" name="text_40"/>
          <p:cNvSpPr txBox="1"/>
          <p:nvPr/>
        </p:nvSpPr>
        <p:spPr>
          <a:xfrm>
            <a:off x="1325880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DA8"/>
                </a:solidFill>
              </a:rPr>
              <a:t>なぜ Uni-Mol か、中身、特徴量</a:t>
            </a:r>
            <a:endParaRPr lang="en-US" sz="1400" dirty="0"/>
          </a:p>
        </p:txBody>
      </p:sp>
      <p:sp>
        <p:nvSpPr>
          <p:cNvPr id="23" name="atom_41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24" name="atomLabel_42"/>
          <p:cNvSpPr txBox="1"/>
          <p:nvPr/>
        </p:nvSpPr>
        <p:spPr>
          <a:xfrm>
            <a:off x="548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_43"/>
          <p:cNvSpPr txBox="1"/>
          <p:nvPr/>
        </p:nvSpPr>
        <p:spPr>
          <a:xfrm>
            <a:off x="132588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結果と次の一手</a:t>
            </a:r>
            <a:endParaRPr lang="en-US" sz="1800" dirty="0"/>
          </a:p>
        </p:txBody>
      </p:sp>
      <p:sp>
        <p:nvSpPr>
          <p:cNvPr id="26" name="text_44"/>
          <p:cNvSpPr txBox="1"/>
          <p:nvPr/>
        </p:nvSpPr>
        <p:spPr>
          <a:xfrm>
            <a:off x="1325880" y="5404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DA8"/>
                </a:solidFill>
              </a:rPr>
              <a:t>LB のスコアと課題</a:t>
            </a:r>
            <a:endParaRPr lang="en-US" sz="1400" dirty="0"/>
          </a:p>
        </p:txBody>
      </p:sp>
      <p:sp>
        <p:nvSpPr>
          <p:cNvPr id="27" name="card_45"/>
          <p:cNvSpPr/>
          <p:nvPr/>
        </p:nvSpPr>
        <p:spPr>
          <a:xfrm>
            <a:off x="6766560" y="1417320"/>
            <a:ext cx="4873752" cy="425196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text_46"/>
          <p:cNvSpPr txBox="1"/>
          <p:nvPr/>
        </p:nvSpPr>
        <p:spPr>
          <a:xfrm>
            <a:off x="713232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B9B0"/>
                </a:solidFill>
              </a:rPr>
              <a:t>結果（Late Submission）</a:t>
            </a:r>
            <a:endParaRPr lang="en-US" sz="1600" dirty="0"/>
          </a:p>
        </p:txBody>
      </p:sp>
      <p:sp>
        <p:nvSpPr>
          <p:cNvPr id="29" name="text_47"/>
          <p:cNvSpPr txBox="1"/>
          <p:nvPr/>
        </p:nvSpPr>
        <p:spPr>
          <a:xfrm>
            <a:off x="7132320" y="21031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2C14E"/>
                </a:solidFill>
              </a:rPr>
              <a:t>-2.424</a:t>
            </a:r>
            <a:endParaRPr lang="en-US" sz="6600" dirty="0"/>
          </a:p>
        </p:txBody>
      </p:sp>
      <p:sp>
        <p:nvSpPr>
          <p:cNvPr id="30" name="text_48"/>
          <p:cNvSpPr txBox="1"/>
          <p:nvPr/>
        </p:nvSpPr>
        <p:spPr>
          <a:xfrm>
            <a:off x="7132320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Private LB</a:t>
            </a:r>
            <a:endParaRPr lang="en-US" sz="1600" dirty="0"/>
          </a:p>
        </p:txBody>
      </p:sp>
      <p:sp>
        <p:nvSpPr>
          <p:cNvPr id="31" name="text_49"/>
          <p:cNvSpPr txBox="1"/>
          <p:nvPr/>
        </p:nvSpPr>
        <p:spPr>
          <a:xfrm>
            <a:off x="7132320" y="37490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最終 LB なら 38 位前後（2,749 チーム中、銀メダル圏）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Public -2.436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Uni-Mol の fine-tune 2 本を 7:3 で平均（1 本 A100 で約 1 時間強）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何を予測するコンペ？</a:t>
            </a:r>
            <a:endParaRPr lang="en-US" sz="3200" dirty="0"/>
          </a:p>
        </p:txBody>
      </p:sp>
      <p:sp>
        <p:nvSpPr>
          <p:cNvPr id="3" name="text_50"/>
          <p:cNvSpPr txBox="1"/>
          <p:nvPr/>
        </p:nvSpPr>
        <p:spPr>
          <a:xfrm>
            <a:off x="548640" y="13716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分子の中の 2 つの原子核が、結合の電子を介して及ぼし合う磁気的な相互作用の強さ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＝ スカラーカップリング定数 J（Hz）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NMR で観測される値。DFT で計算すると重いので、3D 構造から ML で一瞬で予測したい</a:t>
            </a:r>
            <a:endParaRPr lang="en-US" sz="1800" dirty="0"/>
          </a:p>
        </p:txBody>
      </p:sp>
      <p:sp>
        <p:nvSpPr>
          <p:cNvPr id="4" name="text_51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「1JHC」の読み方：数字 = 間にある結合の本数</a:t>
            </a:r>
            <a:endParaRPr lang="en-US" sz="1600" dirty="0"/>
          </a:p>
        </p:txBody>
      </p:sp>
      <p:sp>
        <p:nvSpPr>
          <p:cNvPr id="5" name="text_52"/>
          <p:cNvSpPr txBox="1"/>
          <p:nvPr/>
        </p:nvSpPr>
        <p:spPr>
          <a:xfrm>
            <a:off x="6492240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1JHC</a:t>
            </a:r>
            <a:endParaRPr lang="en-US" sz="1600" dirty="0"/>
          </a:p>
        </p:txBody>
      </p:sp>
      <p:sp>
        <p:nvSpPr>
          <p:cNvPr id="6" name="bond_53"/>
          <p:cNvSpPr/>
          <p:nvPr/>
        </p:nvSpPr>
        <p:spPr>
          <a:xfrm>
            <a:off x="7818120" y="2194560"/>
            <a:ext cx="822960" cy="0"/>
          </a:xfrm>
          <a:prstGeom prst="line">
            <a:avLst/>
          </a:prstGeom>
          <a:noFill/>
          <a:ln w="31750">
            <a:solidFill>
              <a:srgbClr val="9DB9B0"/>
            </a:solidFill>
            <a:prstDash val="solid"/>
          </a:ln>
        </p:spPr>
      </p:sp>
      <p:sp>
        <p:nvSpPr>
          <p:cNvPr id="7" name="atom_54"/>
          <p:cNvSpPr/>
          <p:nvPr/>
        </p:nvSpPr>
        <p:spPr>
          <a:xfrm>
            <a:off x="7589520" y="1965960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8" name="atomLabel_55"/>
          <p:cNvSpPr txBox="1"/>
          <p:nvPr/>
        </p:nvSpPr>
        <p:spPr>
          <a:xfrm>
            <a:off x="7589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9" name="atom_56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0" name="atomLabel_57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1" name="text_58"/>
          <p:cNvSpPr txBox="1"/>
          <p:nvPr/>
        </p:nvSpPr>
        <p:spPr>
          <a:xfrm>
            <a:off x="64922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2JHC</a:t>
            </a:r>
            <a:endParaRPr lang="en-US" sz="1600" dirty="0"/>
          </a:p>
        </p:txBody>
      </p:sp>
      <p:sp>
        <p:nvSpPr>
          <p:cNvPr id="12" name="bond_59"/>
          <p:cNvSpPr/>
          <p:nvPr/>
        </p:nvSpPr>
        <p:spPr>
          <a:xfrm>
            <a:off x="7818120" y="2852928"/>
            <a:ext cx="1645920" cy="0"/>
          </a:xfrm>
          <a:prstGeom prst="line">
            <a:avLst/>
          </a:prstGeom>
          <a:noFill/>
          <a:ln w="31750">
            <a:solidFill>
              <a:srgbClr val="9DB9B0"/>
            </a:solidFill>
            <a:prstDash val="solid"/>
          </a:ln>
        </p:spPr>
      </p:sp>
      <p:sp>
        <p:nvSpPr>
          <p:cNvPr id="13" name="atom_60"/>
          <p:cNvSpPr/>
          <p:nvPr/>
        </p:nvSpPr>
        <p:spPr>
          <a:xfrm>
            <a:off x="7589520" y="2624328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4" name="atomLabel_61"/>
          <p:cNvSpPr txBox="1"/>
          <p:nvPr/>
        </p:nvSpPr>
        <p:spPr>
          <a:xfrm>
            <a:off x="758952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15" name="atom_62"/>
          <p:cNvSpPr/>
          <p:nvPr/>
        </p:nvSpPr>
        <p:spPr>
          <a:xfrm>
            <a:off x="8412480" y="2624328"/>
            <a:ext cx="457200" cy="45720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6" name="atomLabel_63"/>
          <p:cNvSpPr txBox="1"/>
          <p:nvPr/>
        </p:nvSpPr>
        <p:spPr>
          <a:xfrm>
            <a:off x="84124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atom_64"/>
          <p:cNvSpPr/>
          <p:nvPr/>
        </p:nvSpPr>
        <p:spPr>
          <a:xfrm>
            <a:off x="9235440" y="2624328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8" name="atomLabel_65"/>
          <p:cNvSpPr txBox="1"/>
          <p:nvPr/>
        </p:nvSpPr>
        <p:spPr>
          <a:xfrm>
            <a:off x="92354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9" name="text_66"/>
          <p:cNvSpPr txBox="1"/>
          <p:nvPr/>
        </p:nvSpPr>
        <p:spPr>
          <a:xfrm>
            <a:off x="649224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3JHC</a:t>
            </a:r>
            <a:endParaRPr lang="en-US" sz="1600" dirty="0"/>
          </a:p>
        </p:txBody>
      </p:sp>
      <p:sp>
        <p:nvSpPr>
          <p:cNvPr id="20" name="bond_67"/>
          <p:cNvSpPr/>
          <p:nvPr/>
        </p:nvSpPr>
        <p:spPr>
          <a:xfrm>
            <a:off x="7818120" y="3511296"/>
            <a:ext cx="2468880" cy="0"/>
          </a:xfrm>
          <a:prstGeom prst="line">
            <a:avLst/>
          </a:prstGeom>
          <a:noFill/>
          <a:ln w="31750">
            <a:solidFill>
              <a:srgbClr val="9DB9B0"/>
            </a:solidFill>
            <a:prstDash val="solid"/>
          </a:ln>
        </p:spPr>
      </p:sp>
      <p:sp>
        <p:nvSpPr>
          <p:cNvPr id="21" name="atom_68"/>
          <p:cNvSpPr/>
          <p:nvPr/>
        </p:nvSpPr>
        <p:spPr>
          <a:xfrm>
            <a:off x="7589520" y="3282696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22" name="atomLabel_69"/>
          <p:cNvSpPr txBox="1"/>
          <p:nvPr/>
        </p:nvSpPr>
        <p:spPr>
          <a:xfrm>
            <a:off x="758952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23" name="atom_70"/>
          <p:cNvSpPr/>
          <p:nvPr/>
        </p:nvSpPr>
        <p:spPr>
          <a:xfrm>
            <a:off x="8412480" y="3282696"/>
            <a:ext cx="457200" cy="45720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24" name="atomLabel_71"/>
          <p:cNvSpPr txBox="1"/>
          <p:nvPr/>
        </p:nvSpPr>
        <p:spPr>
          <a:xfrm>
            <a:off x="84124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5" name="atom_72"/>
          <p:cNvSpPr/>
          <p:nvPr/>
        </p:nvSpPr>
        <p:spPr>
          <a:xfrm>
            <a:off x="9235440" y="3282696"/>
            <a:ext cx="457200" cy="45720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26" name="atomLabel_73"/>
          <p:cNvSpPr txBox="1"/>
          <p:nvPr/>
        </p:nvSpPr>
        <p:spPr>
          <a:xfrm>
            <a:off x="92354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7" name="atom_74"/>
          <p:cNvSpPr/>
          <p:nvPr/>
        </p:nvSpPr>
        <p:spPr>
          <a:xfrm>
            <a:off x="10058400" y="3282696"/>
            <a:ext cx="457200" cy="4572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28" name="atomLabel_75"/>
          <p:cNvSpPr txBox="1"/>
          <p:nvPr/>
        </p:nvSpPr>
        <p:spPr>
          <a:xfrm>
            <a:off x="100584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9" name="text_76"/>
          <p:cNvSpPr txBox="1"/>
          <p:nvPr/>
        </p:nvSpPr>
        <p:spPr>
          <a:xfrm>
            <a:off x="649224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DA8"/>
                </a:solidFill>
              </a:rPr>
              <a:t>二重結合でも経路の中では「1 本」と数える</a:t>
            </a:r>
            <a:endParaRPr lang="en-US" sz="1400" dirty="0"/>
          </a:p>
        </p:txBody>
      </p:sp>
      <p:sp>
        <p:nvSpPr>
          <p:cNvPr id="30" name="card_77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1" name="text_78"/>
          <p:cNvSpPr txBox="1"/>
          <p:nvPr/>
        </p:nvSpPr>
        <p:spPr>
          <a:xfrm>
            <a:off x="82296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評価指標</a:t>
            </a:r>
            <a:endParaRPr lang="en-US" sz="1600" dirty="0"/>
          </a:p>
        </p:txBody>
      </p:sp>
      <p:sp>
        <p:nvSpPr>
          <p:cNvPr id="32" name="text_79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type 別の log(MAE) の平均（type は 8 種類：1JHC 1JHN 2JHC 2JHH 2JHN 3JHC 3JHH 3JHN）</a:t>
            </a:r>
            <a:endParaRPr lang="en-US" sz="1600" dirty="0"/>
          </a:p>
        </p:txBody>
      </p:sp>
      <p:sp>
        <p:nvSpPr>
          <p:cNvPr id="33" name="text_80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DA8"/>
                </a:solidFill>
              </a:rPr>
              <a:t>→ 件数の少ない 1JHN（4 万件）も、多い 3JHC（151 万件）と同じ重み。値の大きさが違う type も公平に評価される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使えるのは原子と座標だけ</a:t>
            </a:r>
            <a:endParaRPr lang="en-US" sz="3200" dirty="0"/>
          </a:p>
        </p:txBody>
      </p:sp>
      <p:sp>
        <p:nvSpPr>
          <p:cNvPr id="3" name="card_81"/>
          <p:cNvSpPr/>
          <p:nvPr/>
        </p:nvSpPr>
        <p:spPr>
          <a:xfrm>
            <a:off x="548640" y="1371600"/>
            <a:ext cx="536432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card_82"/>
          <p:cNvSpPr/>
          <p:nvPr/>
        </p:nvSpPr>
        <p:spPr>
          <a:xfrm>
            <a:off x="6278728" y="1371600"/>
            <a:ext cx="5364328" cy="3291840"/>
          </a:xfrm>
          <a:prstGeom prst="roundRect">
            <a:avLst>
              <a:gd name="adj" fmla="val 3333"/>
            </a:avLst>
          </a:prstGeom>
          <a:solidFill>
            <a:srgbClr val="F6EDE5"/>
          </a:solidFill>
          <a:ln w="9525">
            <a:solidFill>
              <a:srgbClr val="F6EDE5"/>
            </a:solidFill>
            <a:prstDash val="solid"/>
          </a:ln>
        </p:spPr>
      </p:sp>
      <p:sp>
        <p:nvSpPr>
          <p:cNvPr id="5" name="text_83"/>
          <p:cNvSpPr txBox="1"/>
          <p:nvPr/>
        </p:nvSpPr>
        <p:spPr>
          <a:xfrm>
            <a:off x="822960" y="16002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train / test 共通（入力に使える）</a:t>
            </a:r>
            <a:endParaRPr lang="en-US" sz="1800" dirty="0"/>
          </a:p>
        </p:txBody>
      </p:sp>
      <p:sp>
        <p:nvSpPr>
          <p:cNvPr id="6" name="text_84"/>
          <p:cNvSpPr txBox="1"/>
          <p:nvPr/>
        </p:nvSpPr>
        <p:spPr>
          <a:xfrm>
            <a:off x="822960" y="21031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structures.csv：原子の種類と xyz 座標（13 万分子、1 分子は最大 29 原子）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train.csv / test.csv：原子ペアと type（train 466 万ペア / test 251 万ペア）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と test は分子単位で分かれている → CV も分子単位で</a:t>
            </a:r>
            <a:endParaRPr lang="en-US" sz="1600" dirty="0"/>
          </a:p>
        </p:txBody>
      </p:sp>
      <p:sp>
        <p:nvSpPr>
          <p:cNvPr id="7" name="text_85"/>
          <p:cNvSpPr txBox="1"/>
          <p:nvPr/>
        </p:nvSpPr>
        <p:spPr>
          <a:xfrm>
            <a:off x="6553048" y="16002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train だけ（入力には使えない）</a:t>
            </a:r>
            <a:endParaRPr lang="en-US" sz="1800" dirty="0"/>
          </a:p>
        </p:txBody>
      </p:sp>
      <p:sp>
        <p:nvSpPr>
          <p:cNvPr id="8" name="text_86"/>
          <p:cNvSpPr txBox="1"/>
          <p:nvPr/>
        </p:nvSpPr>
        <p:spPr>
          <a:xfrm>
            <a:off x="6553048" y="21031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 の 4 成分 fc / sd / pso / dso（合計 = J、ほぼ fc）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Mulliken 電荷、磁気遮蔽テンソル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双極子モーメント、ポテンシャルエネルギー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→ 補助ターゲットや中間予測としてなら使える</a:t>
            </a:r>
            <a:endParaRPr lang="en-US" sz="1600" dirty="0"/>
          </a:p>
        </p:txBody>
      </p:sp>
      <p:sp>
        <p:nvSpPr>
          <p:cNvPr id="9" name="atom_87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0" name="atomLabel_88"/>
          <p:cNvSpPr txBox="1"/>
          <p:nvPr/>
        </p:nvSpPr>
        <p:spPr>
          <a:xfrm>
            <a:off x="548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_89"/>
          <p:cNvSpPr txBox="1"/>
          <p:nvPr/>
        </p:nvSpPr>
        <p:spPr>
          <a:xfrm>
            <a:off x="13258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結合・二重結合・角度・二面角はデータに書かれていない</a:t>
            </a:r>
            <a:endParaRPr lang="en-US" sz="1800" dirty="0"/>
          </a:p>
        </p:txBody>
      </p:sp>
      <p:sp>
        <p:nvSpPr>
          <p:cNvPr id="12" name="text_90"/>
          <p:cNvSpPr txBox="1"/>
          <p:nvPr/>
        </p:nvSpPr>
        <p:spPr>
          <a:xfrm>
            <a:off x="1325880" y="5413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7DA8"/>
                </a:solidFill>
              </a:rPr>
              <a:t>座標から自分で計算するか、モデルに学ばせるしかない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上位解法を調べた</a:t>
            </a:r>
            <a:endParaRPr lang="en-US" sz="3200" dirty="0"/>
          </a:p>
        </p:txBody>
      </p:sp>
      <p:graphicFrame>
        <p:nvGraphicFramePr>
          <p:cNvPr id="6" name="table_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051560"/>
                <a:gridCol w="3291840"/>
                <a:gridCol w="6065215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順位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Private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モデル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ポイント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2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-3.240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Soft Graph Transformer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原子・ペア・3 原子組をノードに。距離で attention を補正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-3.223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Transformer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入力は座標・原子種・type だけ。単体 -3.16 で最強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-3.195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BERT（ペアが 1 トークン）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4 成分を補助ターゲットに。疑似ラベル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-3.181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グラフ attention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2J/3J の辺に角度・二面角。GPU 1 枚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-3.150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MEGNet 系 GNN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辺どうしの角度を畳み込む。スタッキング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-3.045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MPNN + Transformer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距離・グラフ距離など 3 種の attention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-3.033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NN + LightGBM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NN の残差を LightGBM で補正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-3.002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SchNet 改造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1200 エポックでも学習不足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-2.974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MPNN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原子種と距離だけ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7A78"/>
                          </a:solidFill>
                        </a:rPr>
                        <a:t>-2.933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F"/>
                          </a:solidFill>
                        </a:rPr>
                        <a:t>Cormorant（回転同変）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</a:rPr>
                        <a:t>他と似ておらず、アンサンブルで効く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_92"/>
          <p:cNvSpPr txBox="1"/>
          <p:nvPr/>
        </p:nvSpPr>
        <p:spPr>
          <a:xfrm>
            <a:off x="54864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DA8"/>
                </a:solidFill>
              </a:rPr>
              <a:t>出典：各チームの解法記事（Kaggle Writeups）、主催者の論文 Bratholm et al., PLoS ONE 2021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上位の共通点は 3 つ</a:t>
            </a:r>
            <a:endParaRPr lang="en-US" sz="3200" dirty="0"/>
          </a:p>
        </p:txBody>
      </p:sp>
      <p:sp>
        <p:nvSpPr>
          <p:cNvPr id="3" name="card_93"/>
          <p:cNvSpPr/>
          <p:nvPr/>
        </p:nvSpPr>
        <p:spPr>
          <a:xfrm>
            <a:off x="548640" y="1417320"/>
            <a:ext cx="3454298" cy="434340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atom_94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5" name="atomLabel_95"/>
          <p:cNvSpPr txBox="1"/>
          <p:nvPr/>
        </p:nvSpPr>
        <p:spPr>
          <a:xfrm>
            <a:off x="868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_96"/>
          <p:cNvSpPr txBox="1"/>
          <p:nvPr/>
        </p:nvSpPr>
        <p:spPr>
          <a:xfrm>
            <a:off x="868680" y="251460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Transformer / attention が勝ち筋</a:t>
            </a:r>
            <a:endParaRPr lang="en-US" sz="2000" dirty="0"/>
          </a:p>
        </p:txBody>
      </p:sp>
      <p:sp>
        <p:nvSpPr>
          <p:cNvPr id="7" name="text_97"/>
          <p:cNvSpPr txBox="1"/>
          <p:nvPr/>
        </p:nvSpPr>
        <p:spPr>
          <a:xfrm>
            <a:off x="868680" y="3429000"/>
            <a:ext cx="28142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上位 4 チームはすべて attention 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GNN（SchNet / MPNN）は改造しても単体 -2.9〜-3.0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LightGBM は作り込んでも -2.0〜-2.1</a:t>
            </a:r>
            <a:endParaRPr lang="en-US" sz="1600" dirty="0"/>
          </a:p>
        </p:txBody>
      </p:sp>
      <p:sp>
        <p:nvSpPr>
          <p:cNvPr id="8" name="card_98"/>
          <p:cNvSpPr/>
          <p:nvPr/>
        </p:nvSpPr>
        <p:spPr>
          <a:xfrm>
            <a:off x="4368698" y="1417320"/>
            <a:ext cx="3454298" cy="434340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atom_99"/>
          <p:cNvSpPr/>
          <p:nvPr/>
        </p:nvSpPr>
        <p:spPr>
          <a:xfrm>
            <a:off x="4688738" y="1691640"/>
            <a:ext cx="640080" cy="64008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0" name="atomLabel_100"/>
          <p:cNvSpPr txBox="1"/>
          <p:nvPr/>
        </p:nvSpPr>
        <p:spPr>
          <a:xfrm>
            <a:off x="468873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_101"/>
          <p:cNvSpPr txBox="1"/>
          <p:nvPr/>
        </p:nvSpPr>
        <p:spPr>
          <a:xfrm>
            <a:off x="4688738" y="251460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幾何の入れ方が鍵</a:t>
            </a:r>
            <a:endParaRPr lang="en-US" sz="2000" dirty="0"/>
          </a:p>
        </p:txBody>
      </p:sp>
      <p:sp>
        <p:nvSpPr>
          <p:cNvPr id="12" name="text_102"/>
          <p:cNvSpPr txBox="1"/>
          <p:nvPr/>
        </p:nvSpPr>
        <p:spPr>
          <a:xfrm>
            <a:off x="4688738" y="3429000"/>
            <a:ext cx="28142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距離で attention を補正（1 位）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座標をそのまま入れる（2・3 位）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角度・二面角を辺の特徴に（4 位）</a:t>
            </a:r>
            <a:endParaRPr lang="en-US" sz="1600" dirty="0"/>
          </a:p>
        </p:txBody>
      </p:sp>
      <p:sp>
        <p:nvSpPr>
          <p:cNvPr id="13" name="card_103"/>
          <p:cNvSpPr/>
          <p:nvPr/>
        </p:nvSpPr>
        <p:spPr>
          <a:xfrm>
            <a:off x="8188757" y="1417320"/>
            <a:ext cx="3454298" cy="434340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atom_104"/>
          <p:cNvSpPr/>
          <p:nvPr/>
        </p:nvSpPr>
        <p:spPr>
          <a:xfrm>
            <a:off x="8508797" y="1691640"/>
            <a:ext cx="640080" cy="64008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5" name="atomLabel_105"/>
          <p:cNvSpPr txBox="1"/>
          <p:nvPr/>
        </p:nvSpPr>
        <p:spPr>
          <a:xfrm>
            <a:off x="8508797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_106"/>
          <p:cNvSpPr txBox="1"/>
          <p:nvPr/>
        </p:nvSpPr>
        <p:spPr>
          <a:xfrm>
            <a:off x="8508797" y="2514600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type 別の出力と長い学習</a:t>
            </a:r>
            <a:endParaRPr lang="en-US" sz="2000" dirty="0"/>
          </a:p>
        </p:txBody>
      </p:sp>
      <p:sp>
        <p:nvSpPr>
          <p:cNvPr id="17" name="text_107"/>
          <p:cNvSpPr txBox="1"/>
          <p:nvPr/>
        </p:nvSpPr>
        <p:spPr>
          <a:xfrm>
            <a:off x="8508797" y="3429000"/>
            <a:ext cx="28142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type 別の出力層、type 別の fine-tune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位は 8 type を 33 のサブタイプに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100〜1200 エポック回すのが普通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最初の方針：2 位方式をベースに</a:t>
            </a:r>
            <a:endParaRPr lang="en-US" sz="3200" dirty="0"/>
          </a:p>
        </p:txBody>
      </p:sp>
      <p:sp>
        <p:nvSpPr>
          <p:cNvPr id="3" name="text_108"/>
          <p:cNvSpPr txBox="1"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条件</a:t>
            </a:r>
            <a:endParaRPr lang="en-US" sz="1800" dirty="0"/>
          </a:p>
        </p:txBody>
      </p:sp>
      <p:sp>
        <p:nvSpPr>
          <p:cNvPr id="4" name="box_109"/>
          <p:cNvSpPr/>
          <p:nvPr/>
        </p:nvSpPr>
        <p:spPr>
          <a:xfrm>
            <a:off x="548640" y="1920240"/>
            <a:ext cx="393192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5" name="boxText_110"/>
          <p:cNvSpPr txBox="1"/>
          <p:nvPr/>
        </p:nvSpPr>
        <p:spPr>
          <a:xfrm>
            <a:off x="658368" y="1920240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シンプルなモデル</a:t>
            </a:r>
            <a:endParaRPr lang="en-US" sz="1500" dirty="0"/>
          </a:p>
        </p:txBody>
      </p:sp>
      <p:sp>
        <p:nvSpPr>
          <p:cNvPr id="6" name="box_111"/>
          <p:cNvSpPr/>
          <p:nvPr/>
        </p:nvSpPr>
        <p:spPr>
          <a:xfrm>
            <a:off x="548640" y="2606040"/>
            <a:ext cx="393192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7" name="boxText_112"/>
          <p:cNvSpPr txBox="1"/>
          <p:nvPr/>
        </p:nvSpPr>
        <p:spPr>
          <a:xfrm>
            <a:off x="658368" y="2606040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Transformer を使いたい</a:t>
            </a:r>
            <a:endParaRPr lang="en-US" sz="1500" dirty="0"/>
          </a:p>
        </p:txBody>
      </p:sp>
      <p:sp>
        <p:nvSpPr>
          <p:cNvPr id="8" name="box_113"/>
          <p:cNvSpPr/>
          <p:nvPr/>
        </p:nvSpPr>
        <p:spPr>
          <a:xfrm>
            <a:off x="548640" y="3291840"/>
            <a:ext cx="393192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9" name="boxText_114"/>
          <p:cNvSpPr txBox="1"/>
          <p:nvPr/>
        </p:nvSpPr>
        <p:spPr>
          <a:xfrm>
            <a:off x="658368" y="3291840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Colab Pro 1 か月（A100 で約 8〜18 時間）</a:t>
            </a:r>
            <a:endParaRPr lang="en-US" sz="1500" dirty="0"/>
          </a:p>
        </p:txBody>
      </p:sp>
      <p:sp>
        <p:nvSpPr>
          <p:cNvPr id="10" name="arrow_115"/>
          <p:cNvSpPr/>
          <p:nvPr/>
        </p:nvSpPr>
        <p:spPr>
          <a:xfrm>
            <a:off x="4709160" y="2743200"/>
            <a:ext cx="73152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11" name="card_116"/>
          <p:cNvSpPr/>
          <p:nvPr/>
        </p:nvSpPr>
        <p:spPr>
          <a:xfrm>
            <a:off x="5669280" y="1417320"/>
            <a:ext cx="597103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_117"/>
          <p:cNvSpPr txBox="1"/>
          <p:nvPr/>
        </p:nvSpPr>
        <p:spPr>
          <a:xfrm>
            <a:off x="59436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 位（Quantum Uncertainty）の方式</a:t>
            </a:r>
            <a:endParaRPr lang="en-US" sz="1800" dirty="0"/>
          </a:p>
        </p:txBody>
      </p:sp>
      <p:sp>
        <p:nvSpPr>
          <p:cNvPr id="13" name="text_118"/>
          <p:cNvSpPr txBox="1"/>
          <p:nvPr/>
        </p:nvSpPr>
        <p:spPr>
          <a:xfrm>
            <a:off x="5943600" y="21488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入力は座標・原子種・type だけ。結合の推定も特徴量づくりもいらない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化学の知識なしで、単体モデルとして全チーム最強（-3.16）</a:t>
            </a:r>
            <a:endParaRPr lang="en-US" sz="1600" dirty="0"/>
          </a:p>
        </p:txBody>
      </p:sp>
      <p:sp>
        <p:nvSpPr>
          <p:cNvPr id="14" name="card_119"/>
          <p:cNvSpPr/>
          <p:nvPr/>
        </p:nvSpPr>
        <p:spPr>
          <a:xfrm>
            <a:off x="5669280" y="3977640"/>
            <a:ext cx="5971032" cy="1783080"/>
          </a:xfrm>
          <a:prstGeom prst="roundRect">
            <a:avLst>
              <a:gd name="adj" fmla="val 6154"/>
            </a:avLst>
          </a:prstGeom>
          <a:solidFill>
            <a:srgbClr val="F6EDE5"/>
          </a:solidFill>
          <a:ln w="9525">
            <a:solidFill>
              <a:srgbClr val="F6EDE5"/>
            </a:solidFill>
            <a:prstDash val="solid"/>
          </a:ln>
        </p:spPr>
      </p:sp>
      <p:sp>
        <p:nvSpPr>
          <p:cNvPr id="15" name="text_120"/>
          <p:cNvSpPr txBox="1"/>
          <p:nvPr/>
        </p:nvSpPr>
        <p:spPr>
          <a:xfrm>
            <a:off x="594360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ただし…</a:t>
            </a:r>
            <a:endParaRPr lang="en-US" sz="1800" dirty="0"/>
          </a:p>
        </p:txBody>
      </p:sp>
      <p:sp>
        <p:nvSpPr>
          <p:cNvPr id="16" name="text_121"/>
          <p:cNvSpPr txBox="1"/>
          <p:nvPr/>
        </p:nvSpPr>
        <p:spPr>
          <a:xfrm>
            <a:off x="5943600" y="4617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 位は GPU 十数台で数週間。同じ予算はない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→ まず EDA で「何が効くか」を自分で確かめる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EDA：上位の言うことは本当か</a:t>
            </a:r>
            <a:endParaRPr lang="en-US" sz="3200" dirty="0"/>
          </a:p>
        </p:txBody>
      </p:sp>
      <p:sp>
        <p:nvSpPr>
          <p:cNvPr id="3" name="text_122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1JHC は C の結合の仕方で大きく変わる</a:t>
            </a:r>
            <a:endParaRPr lang="en-US" sz="1600" dirty="0"/>
          </a:p>
        </p:txBody>
      </p:sp>
      <p:graphicFrame>
        <p:nvGraphicFramePr>
          <p:cNvPr id="4" name="chart_123" descr=""/>
          <p:cNvGraphicFramePr/>
          <p:nvPr/>
        </p:nvGraphicFramePr>
        <p:xfrm>
          <a:off x="548640" y="17373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_124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3JHH は二面角で Karplus 曲線。中間の原子で曲線の形も変わる</a:t>
            </a:r>
            <a:endParaRPr lang="en-US" sz="1600" dirty="0"/>
          </a:p>
        </p:txBody>
      </p:sp>
      <p:pic>
        <p:nvPicPr>
          <p:cNvPr id="6" name="karplus_125" descr="/Users/kinopee/Desktop/kaggle/Predicting Molecular Properties/notebooks/figs/06_karplus_by_pa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5577840" cy="3070946"/>
          </a:xfrm>
          <a:prstGeom prst="rect">
            <a:avLst/>
          </a:prstGeom>
        </p:spPr>
      </p:pic>
      <p:sp>
        <p:nvSpPr>
          <p:cNvPr id="7" name="atom_126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8" name="atomLabel_127"/>
          <p:cNvSpPr txBox="1"/>
          <p:nvPr/>
        </p:nvSpPr>
        <p:spPr>
          <a:xfrm>
            <a:off x="5486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◎</a:t>
            </a:r>
            <a:endParaRPr lang="en-US" sz="1800" dirty="0"/>
          </a:p>
        </p:txBody>
      </p:sp>
      <p:sp>
        <p:nvSpPr>
          <p:cNvPr id="9" name="text_128"/>
          <p:cNvSpPr txBox="1"/>
          <p:nvPr/>
        </p:nvSpPr>
        <p:spPr>
          <a:xfrm>
            <a:off x="1234440" y="554126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距離・混成（結合の数）・角度・二面角・経路上の原子は、どれもデータで裏付けあり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EDA：どれくらい効く？</a:t>
            </a:r>
            <a:endParaRPr lang="en-US" sz="3200" dirty="0"/>
          </a:p>
        </p:txBody>
      </p:sp>
      <p:graphicFrame>
        <p:nvGraphicFramePr>
          <p:cNvPr id="3" name="chart_129" descr=""/>
          <p:cNvGraphicFramePr/>
          <p:nvPr/>
        </p:nvGraphicFramePr>
        <p:xfrm>
          <a:off x="54864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_130"/>
          <p:cNvSpPr/>
          <p:nvPr/>
        </p:nvSpPr>
        <p:spPr>
          <a:xfrm>
            <a:off x="7680960" y="1325880"/>
            <a:ext cx="3959352" cy="4480560"/>
          </a:xfrm>
          <a:prstGeom prst="roundRect">
            <a:avLst>
              <a:gd name="adj" fmla="val 277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" name="text_131"/>
          <p:cNvSpPr txBox="1"/>
          <p:nvPr/>
        </p:nvSpPr>
        <p:spPr>
          <a:xfrm>
            <a:off x="80010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</a:rPr>
              <a:t>1.19 → 0.28</a:t>
            </a:r>
            <a:endParaRPr lang="en-US" sz="4000" dirty="0"/>
          </a:p>
        </p:txBody>
      </p:sp>
      <p:sp>
        <p:nvSpPr>
          <p:cNvPr id="6" name="text_132"/>
          <p:cNvSpPr txBox="1"/>
          <p:nvPr/>
        </p:nvSpPr>
        <p:spPr>
          <a:xfrm>
            <a:off x="8001000" y="2514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要素を組み合わせると、モデルなしでもここまで下がる</a:t>
            </a:r>
            <a:endParaRPr lang="en-US" sz="1500" dirty="0"/>
          </a:p>
        </p:txBody>
      </p:sp>
      <p:sp>
        <p:nvSpPr>
          <p:cNvPr id="7" name="text_133"/>
          <p:cNvSpPr txBox="1"/>
          <p:nvPr/>
        </p:nvSpPr>
        <p:spPr>
          <a:xfrm>
            <a:off x="800100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でも上位は -3.2</a:t>
            </a:r>
            <a:endParaRPr lang="en-US" sz="2200" dirty="0"/>
          </a:p>
        </p:txBody>
      </p:sp>
      <p:sp>
        <p:nvSpPr>
          <p:cNvPr id="8" name="text_134"/>
          <p:cNvSpPr txBox="1"/>
          <p:nvPr/>
        </p:nvSpPr>
        <p:spPr>
          <a:xfrm>
            <a:off x="8001000" y="4069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DB9B0"/>
                </a:solidFill>
              </a:rPr>
              <a:t>残りの差は、分子全体の文脈や要素どうしの複雑な組み合わせ → モデルに学ばせる部分</a:t>
            </a:r>
            <a:endParaRPr lang="en-US" sz="1500" dirty="0"/>
          </a:p>
        </p:txBody>
      </p:sp>
      <p:sp>
        <p:nvSpPr>
          <p:cNvPr id="9" name="text_135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DA8"/>
                </a:solidFill>
              </a:rPr>
              <a:t>分子単位で 8:2 に分け、8 割で「type × 特徴量のビン」ごとの中央値を作って 2 割を予測。score = type 別 log(MAE) の平均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なぜ Uni-Mol？</a:t>
            </a:r>
            <a:endParaRPr lang="en-US" sz="3200" dirty="0"/>
          </a:p>
        </p:txBody>
      </p:sp>
      <p:sp>
        <p:nvSpPr>
          <p:cNvPr id="3" name="text_136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7DA8"/>
                </a:solidFill>
              </a:rPr>
              <a:t>2 位の真似では、予算的に再現が精一杯 → 2019 年以降に出てきた「3D 分子の事前学習モデル」を使う</a:t>
            </a:r>
            <a:endParaRPr lang="en-US" sz="1700" dirty="0"/>
          </a:p>
        </p:txBody>
      </p:sp>
      <p:sp>
        <p:nvSpPr>
          <p:cNvPr id="4" name="card_137"/>
          <p:cNvSpPr/>
          <p:nvPr/>
        </p:nvSpPr>
        <p:spPr>
          <a:xfrm>
            <a:off x="548640" y="1828800"/>
            <a:ext cx="536432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atom_138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6" name="atomLabel_139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_140"/>
          <p:cNvSpPr txBox="1"/>
          <p:nvPr/>
        </p:nvSpPr>
        <p:spPr>
          <a:xfrm>
            <a:off x="1600200" y="213055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原子ペアの表現を持つ</a:t>
            </a:r>
            <a:endParaRPr lang="en-US" sz="1900" dirty="0"/>
          </a:p>
        </p:txBody>
      </p:sp>
      <p:sp>
        <p:nvSpPr>
          <p:cNvPr id="8" name="text_141"/>
          <p:cNvSpPr txBox="1"/>
          <p:nvPr/>
        </p:nvSpPr>
        <p:spPr>
          <a:xfrm>
            <a:off x="1600200" y="2697480"/>
            <a:ext cx="403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 はペアの値。1 位の「ペアもノードにする」発想に近いことを、事前学習付きでできる</a:t>
            </a:r>
            <a:endParaRPr lang="en-US" sz="1500" dirty="0"/>
          </a:p>
        </p:txBody>
      </p:sp>
      <p:sp>
        <p:nvSpPr>
          <p:cNvPr id="9" name="card_142"/>
          <p:cNvSpPr/>
          <p:nvPr/>
        </p:nvSpPr>
        <p:spPr>
          <a:xfrm>
            <a:off x="6278728" y="1828800"/>
            <a:ext cx="536432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atom_143"/>
          <p:cNvSpPr/>
          <p:nvPr/>
        </p:nvSpPr>
        <p:spPr>
          <a:xfrm>
            <a:off x="6553048" y="2103120"/>
            <a:ext cx="548640" cy="54864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1" name="atomLabel_144"/>
          <p:cNvSpPr txBox="1"/>
          <p:nvPr/>
        </p:nvSpPr>
        <p:spPr>
          <a:xfrm>
            <a:off x="655304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_145"/>
          <p:cNvSpPr txBox="1"/>
          <p:nvPr/>
        </p:nvSpPr>
        <p:spPr>
          <a:xfrm>
            <a:off x="7330288" y="213055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2.09 億個の 3D 構造で事前学習済み</a:t>
            </a:r>
            <a:endParaRPr lang="en-US" sz="1900" dirty="0"/>
          </a:p>
        </p:txBody>
      </p:sp>
      <p:sp>
        <p:nvSpPr>
          <p:cNvPr id="13" name="text_146"/>
          <p:cNvSpPr txBox="1"/>
          <p:nvPr/>
        </p:nvSpPr>
        <p:spPr>
          <a:xfrm>
            <a:off x="7330288" y="2697480"/>
            <a:ext cx="403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分子の形をすでに知っている → 少ない学習で早く精度が上がる</a:t>
            </a:r>
            <a:endParaRPr lang="en-US" sz="1500" dirty="0"/>
          </a:p>
        </p:txBody>
      </p:sp>
      <p:sp>
        <p:nvSpPr>
          <p:cNvPr id="14" name="card_147"/>
          <p:cNvSpPr/>
          <p:nvPr/>
        </p:nvSpPr>
        <p:spPr>
          <a:xfrm>
            <a:off x="548640" y="4069080"/>
            <a:ext cx="536432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atom_148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6" name="atomLabel_149"/>
          <p:cNvSpPr txBox="1"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_150"/>
          <p:cNvSpPr txBox="1"/>
          <p:nvPr/>
        </p:nvSpPr>
        <p:spPr>
          <a:xfrm>
            <a:off x="1600200" y="437083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 位方式より軽い</a:t>
            </a:r>
            <a:endParaRPr lang="en-US" sz="1900" dirty="0"/>
          </a:p>
        </p:txBody>
      </p:sp>
      <p:sp>
        <p:nvSpPr>
          <p:cNvPr id="18" name="text_151"/>
          <p:cNvSpPr txBox="1"/>
          <p:nvPr/>
        </p:nvSpPr>
        <p:spPr>
          <a:xfrm>
            <a:off x="1600200" y="4937760"/>
            <a:ext cx="403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 分子を 1 回処理すれば全ペアを予測できる（1 エポック約 8 万本。2 位方式は約 79〜140 万本）</a:t>
            </a:r>
            <a:endParaRPr lang="en-US" sz="1500" dirty="0"/>
          </a:p>
        </p:txBody>
      </p:sp>
      <p:sp>
        <p:nvSpPr>
          <p:cNvPr id="19" name="card_152"/>
          <p:cNvSpPr/>
          <p:nvPr/>
        </p:nvSpPr>
        <p:spPr>
          <a:xfrm>
            <a:off x="6278728" y="4069080"/>
            <a:ext cx="536432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atom_153"/>
          <p:cNvSpPr/>
          <p:nvPr/>
        </p:nvSpPr>
        <p:spPr>
          <a:xfrm>
            <a:off x="6553048" y="4343400"/>
            <a:ext cx="548640" cy="548640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21" name="atomLabel_154"/>
          <p:cNvSpPr txBox="1"/>
          <p:nvPr/>
        </p:nvSpPr>
        <p:spPr>
          <a:xfrm>
            <a:off x="6553048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_155"/>
          <p:cNvSpPr txBox="1"/>
          <p:nvPr/>
        </p:nvSpPr>
        <p:spPr>
          <a:xfrm>
            <a:off x="7330288" y="4370832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水素込みの重みがある</a:t>
            </a:r>
            <a:endParaRPr lang="en-US" sz="1900" dirty="0"/>
          </a:p>
        </p:txBody>
      </p:sp>
      <p:sp>
        <p:nvSpPr>
          <p:cNvPr id="23" name="text_156"/>
          <p:cNvSpPr txBox="1"/>
          <p:nvPr/>
        </p:nvSpPr>
        <p:spPr>
          <a:xfrm>
            <a:off x="7330288" y="4937760"/>
            <a:ext cx="403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 には必ず H が関わる。公開重み mol_pre_all_h（約 4,700 万パラメータ）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Uni-Mol の中身</a:t>
            </a:r>
            <a:endParaRPr lang="en-US" sz="3200" dirty="0"/>
          </a:p>
        </p:txBody>
      </p:sp>
      <p:sp>
        <p:nvSpPr>
          <p:cNvPr id="3" name="box_157"/>
          <p:cNvSpPr/>
          <p:nvPr/>
        </p:nvSpPr>
        <p:spPr>
          <a:xfrm>
            <a:off x="548640" y="146304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4" name="boxText_158"/>
          <p:cNvSpPr txBox="1"/>
          <p:nvPr/>
        </p:nvSpPr>
        <p:spPr>
          <a:xfrm>
            <a:off x="658368" y="14630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原子の種類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[CLS] C C O H … [SEP]</a:t>
            </a:r>
            <a:endParaRPr lang="en-US" sz="1400" dirty="0"/>
          </a:p>
        </p:txBody>
      </p:sp>
      <p:sp>
        <p:nvSpPr>
          <p:cNvPr id="5" name="box_159"/>
          <p:cNvSpPr/>
          <p:nvPr/>
        </p:nvSpPr>
        <p:spPr>
          <a:xfrm>
            <a:off x="548640" y="310896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6" name="boxText_160"/>
          <p:cNvSpPr txBox="1"/>
          <p:nvPr/>
        </p:nvSpPr>
        <p:spPr>
          <a:xfrm>
            <a:off x="658368" y="31089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3D 座標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（重心を原点に）</a:t>
            </a:r>
            <a:endParaRPr lang="en-US" sz="1400" dirty="0"/>
          </a:p>
        </p:txBody>
      </p:sp>
      <p:sp>
        <p:nvSpPr>
          <p:cNvPr id="7" name="arrow_161"/>
          <p:cNvSpPr/>
          <p:nvPr/>
        </p:nvSpPr>
        <p:spPr>
          <a:xfrm>
            <a:off x="3063240" y="1920240"/>
            <a:ext cx="50292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8" name="arrow_162"/>
          <p:cNvSpPr/>
          <p:nvPr/>
        </p:nvSpPr>
        <p:spPr>
          <a:xfrm>
            <a:off x="3063240" y="3566160"/>
            <a:ext cx="50292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9" name="box_163"/>
          <p:cNvSpPr/>
          <p:nvPr/>
        </p:nvSpPr>
        <p:spPr>
          <a:xfrm>
            <a:off x="3611880" y="14630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7A78"/>
          </a:solidFill>
          <a:ln w="12700">
            <a:solidFill>
              <a:srgbClr val="1F7A78"/>
            </a:solidFill>
            <a:prstDash val="solid"/>
          </a:ln>
        </p:spPr>
      </p:sp>
      <p:sp>
        <p:nvSpPr>
          <p:cNvPr id="10" name="boxText_164"/>
          <p:cNvSpPr txBox="1"/>
          <p:nvPr/>
        </p:nvSpPr>
        <p:spPr>
          <a:xfrm>
            <a:off x="3721608" y="14630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原子の埋め込み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（512 次元）</a:t>
            </a:r>
            <a:endParaRPr lang="en-US" sz="1400" dirty="0"/>
          </a:p>
        </p:txBody>
      </p:sp>
      <p:sp>
        <p:nvSpPr>
          <p:cNvPr id="11" name="box_165"/>
          <p:cNvSpPr/>
          <p:nvPr/>
        </p:nvSpPr>
        <p:spPr>
          <a:xfrm>
            <a:off x="3611880" y="31089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7A78"/>
          </a:solidFill>
          <a:ln w="12700">
            <a:solidFill>
              <a:srgbClr val="1F7A78"/>
            </a:solidFill>
            <a:prstDash val="solid"/>
          </a:ln>
        </p:spPr>
      </p:sp>
      <p:sp>
        <p:nvSpPr>
          <p:cNvPr id="12" name="boxText_166"/>
          <p:cNvSpPr txBox="1"/>
          <p:nvPr/>
        </p:nvSpPr>
        <p:spPr>
          <a:xfrm>
            <a:off x="3721608" y="310896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原子間距離をガウス関数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128 個で展開 → ペアのバイアス</a:t>
            </a:r>
            <a:endParaRPr lang="en-US" sz="1300" dirty="0"/>
          </a:p>
        </p:txBody>
      </p:sp>
      <p:sp>
        <p:nvSpPr>
          <p:cNvPr id="13" name="arrow_167"/>
          <p:cNvSpPr/>
          <p:nvPr/>
        </p:nvSpPr>
        <p:spPr>
          <a:xfrm>
            <a:off x="6309360" y="1920240"/>
            <a:ext cx="502920" cy="54864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14" name="arrow_168"/>
          <p:cNvSpPr/>
          <p:nvPr/>
        </p:nvSpPr>
        <p:spPr>
          <a:xfrm flipV="1">
            <a:off x="6309360" y="3017520"/>
            <a:ext cx="502920" cy="54864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15" name="card_169"/>
          <p:cNvSpPr/>
          <p:nvPr/>
        </p:nvSpPr>
        <p:spPr>
          <a:xfrm>
            <a:off x="6858000" y="1463040"/>
            <a:ext cx="2514600" cy="256032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6" name="text_170"/>
          <p:cNvSpPr txBox="1"/>
          <p:nvPr/>
        </p:nvSpPr>
        <p:spPr>
          <a:xfrm>
            <a:off x="6995160" y="1600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Transformer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 層</a:t>
            </a:r>
            <a:endParaRPr lang="en-US" sz="1800" dirty="0"/>
          </a:p>
        </p:txBody>
      </p:sp>
      <p:sp>
        <p:nvSpPr>
          <p:cNvPr id="17" name="text_171"/>
          <p:cNvSpPr txBox="1"/>
          <p:nvPr/>
        </p:nvSpPr>
        <p:spPr>
          <a:xfrm>
            <a:off x="7040880" y="24231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B9B0"/>
                </a:solidFill>
              </a:rPr>
              <a:t>attention に距離のバイアスを足す。各層の attention スコアが、次の層のペア表現になる</a:t>
            </a:r>
            <a:endParaRPr lang="en-US" sz="1300" dirty="0"/>
          </a:p>
        </p:txBody>
      </p:sp>
      <p:sp>
        <p:nvSpPr>
          <p:cNvPr id="18" name="arrow_172"/>
          <p:cNvSpPr/>
          <p:nvPr/>
        </p:nvSpPr>
        <p:spPr>
          <a:xfrm>
            <a:off x="9418320" y="1920240"/>
            <a:ext cx="45720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19" name="arrow_173"/>
          <p:cNvSpPr/>
          <p:nvPr/>
        </p:nvSpPr>
        <p:spPr>
          <a:xfrm>
            <a:off x="9418320" y="3566160"/>
            <a:ext cx="45720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20" name="box_174"/>
          <p:cNvSpPr/>
          <p:nvPr/>
        </p:nvSpPr>
        <p:spPr>
          <a:xfrm>
            <a:off x="9921240" y="1463040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boxText_175"/>
          <p:cNvSpPr txBox="1"/>
          <p:nvPr/>
        </p:nvSpPr>
        <p:spPr>
          <a:xfrm>
            <a:off x="10030968" y="1463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原子の表現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512 次元</a:t>
            </a:r>
            <a:endParaRPr lang="en-US" sz="1400" dirty="0"/>
          </a:p>
        </p:txBody>
      </p:sp>
      <p:sp>
        <p:nvSpPr>
          <p:cNvPr id="22" name="box_176"/>
          <p:cNvSpPr/>
          <p:nvPr/>
        </p:nvSpPr>
        <p:spPr>
          <a:xfrm>
            <a:off x="9921240" y="3108960"/>
            <a:ext cx="1719072" cy="914400"/>
          </a:xfrm>
          <a:prstGeom prst="roundRect">
            <a:avLst>
              <a:gd name="adj" fmla="val 1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3" name="boxText_177"/>
          <p:cNvSpPr txBox="1"/>
          <p:nvPr/>
        </p:nvSpPr>
        <p:spPr>
          <a:xfrm>
            <a:off x="10030968" y="310896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ペアの表現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64 次元</a:t>
            </a:r>
            <a:endParaRPr lang="en-US" sz="1400" dirty="0"/>
          </a:p>
        </p:txBody>
      </p:sp>
      <p:sp>
        <p:nvSpPr>
          <p:cNvPr id="24" name="card_178"/>
          <p:cNvSpPr/>
          <p:nvPr/>
        </p:nvSpPr>
        <p:spPr>
          <a:xfrm>
            <a:off x="548640" y="4526280"/>
            <a:ext cx="11094415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5" name="text_179"/>
          <p:cNvSpPr txBox="1"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事前学習（論文の設定）</a:t>
            </a:r>
            <a:endParaRPr lang="en-US" sz="1600" dirty="0"/>
          </a:p>
        </p:txBody>
      </p:sp>
      <p:sp>
        <p:nvSpPr>
          <p:cNvPr id="26" name="text_180"/>
          <p:cNvSpPr txBox="1"/>
          <p:nvPr/>
        </p:nvSpPr>
        <p:spPr>
          <a:xfrm>
            <a:off x="822960" y="5120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2.09 億個の分子の 3D 構造（RDKit で生成した配座）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① 隠した原子の種類を当てる　② ずらした座標・原子間距離を元に戻す</a:t>
            </a:r>
            <a:endParaRPr lang="en-US" sz="1600" dirty="0"/>
          </a:p>
        </p:txBody>
      </p:sp>
      <p:sp>
        <p:nvSpPr>
          <p:cNvPr id="27" name="text_181"/>
          <p:cNvSpPr txBox="1"/>
          <p:nvPr/>
        </p:nvSpPr>
        <p:spPr>
          <a:xfrm>
            <a:off x="850392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 層・512 次元・64 ヘッド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約 4,700 万パラメータ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使った特徴量</a:t>
            </a:r>
            <a:endParaRPr lang="en-US" sz="3200" dirty="0"/>
          </a:p>
        </p:txBody>
      </p:sp>
      <p:sp>
        <p:nvSpPr>
          <p:cNvPr id="3" name="atom_182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4" name="atomLabel_183"/>
          <p:cNvSpPr txBox="1"/>
          <p:nvPr/>
        </p:nvSpPr>
        <p:spPr>
          <a:xfrm>
            <a:off x="54864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</a:t>
            </a:r>
            <a:endParaRPr lang="en-US" sz="2000" dirty="0"/>
          </a:p>
        </p:txBody>
      </p:sp>
      <p:sp>
        <p:nvSpPr>
          <p:cNvPr id="5" name="text_184"/>
          <p:cNvSpPr txBox="1"/>
          <p:nvPr/>
        </p:nvSpPr>
        <p:spPr>
          <a:xfrm>
            <a:off x="13258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入力は原子の種類と座標だけ。手作りの特徴量はゼロ</a:t>
            </a:r>
            <a:endParaRPr lang="en-US" sz="2000" dirty="0"/>
          </a:p>
        </p:txBody>
      </p:sp>
      <p:graphicFrame>
        <p:nvGraphicFramePr>
          <p:cNvPr id="13" name="table_1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EDA で効いた要素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Uni-Mol の中でどう表されるか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2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7A78"/>
                          </a:solidFill>
                        </a:rPr>
                        <a:t>距離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ガウス関数で展開して、attention に直接入る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7A78"/>
                          </a:solidFill>
                        </a:rPr>
                        <a:t>混成（結合の数）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周りの原子との距離のパターンから分かる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7A78"/>
                          </a:solidFill>
                        </a:rPr>
                        <a:t>2J の角度・3J の二面角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3〜4 原子の距離の組で決まる → 層を重ねてペア表現が学ぶ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7A78"/>
                          </a:solidFill>
                        </a:rPr>
                        <a:t>経路上の原子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attention で、周りの原子の情報を集める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7A78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J を出す部分で、type の埋め込みとして入れる</a:t>
                      </a:r>
                      <a:endParaRPr lang="en-US" sz="16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</a:tbl>
          </a:graphicData>
        </a:graphic>
      </p:graphicFrame>
      <p:sp>
        <p:nvSpPr>
          <p:cNvPr id="7" name="card_186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6EDE5"/>
          </a:solidFill>
          <a:ln w="9525">
            <a:solidFill>
              <a:srgbClr val="F6EDE5"/>
            </a:solidFill>
            <a:prstDash val="solid"/>
          </a:ln>
        </p:spPr>
      </p:sp>
      <p:sp>
        <p:nvSpPr>
          <p:cNvPr id="8" name="text_187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確認：事前学習の距離予測部分にペア表現を入れると、原子間距離を誤差 0.05Å で再現できた → ペア表現は分子の形を知っている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 の出し方</a:t>
            </a:r>
            <a:endParaRPr lang="en-US" sz="3200" dirty="0"/>
          </a:p>
        </p:txBody>
      </p:sp>
      <p:sp>
        <p:nvSpPr>
          <p:cNvPr id="3" name="box_188"/>
          <p:cNvSpPr/>
          <p:nvPr/>
        </p:nvSpPr>
        <p:spPr>
          <a:xfrm>
            <a:off x="548640" y="1371600"/>
            <a:ext cx="29260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4" name="boxText_189"/>
          <p:cNvSpPr txBox="1"/>
          <p:nvPr/>
        </p:nvSpPr>
        <p:spPr>
          <a:xfrm>
            <a:off x="658368" y="137160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原子 i の表現</a:t>
            </a:r>
            <a:endParaRPr lang="en-US" sz="1400" dirty="0"/>
          </a:p>
        </p:txBody>
      </p:sp>
      <p:sp>
        <p:nvSpPr>
          <p:cNvPr id="5" name="box_190"/>
          <p:cNvSpPr/>
          <p:nvPr/>
        </p:nvSpPr>
        <p:spPr>
          <a:xfrm>
            <a:off x="548640" y="1938528"/>
            <a:ext cx="29260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6" name="boxText_191"/>
          <p:cNvSpPr txBox="1"/>
          <p:nvPr/>
        </p:nvSpPr>
        <p:spPr>
          <a:xfrm>
            <a:off x="658368" y="193852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原子 j の表現</a:t>
            </a:r>
            <a:endParaRPr lang="en-US" sz="1400" dirty="0"/>
          </a:p>
        </p:txBody>
      </p:sp>
      <p:sp>
        <p:nvSpPr>
          <p:cNvPr id="7" name="box_192"/>
          <p:cNvSpPr/>
          <p:nvPr/>
        </p:nvSpPr>
        <p:spPr>
          <a:xfrm>
            <a:off x="548640" y="2505456"/>
            <a:ext cx="29260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8" name="boxText_193"/>
          <p:cNvSpPr txBox="1"/>
          <p:nvPr/>
        </p:nvSpPr>
        <p:spPr>
          <a:xfrm>
            <a:off x="658368" y="250545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 × j（要素ごとの積）</a:t>
            </a:r>
            <a:endParaRPr lang="en-US" sz="1400" dirty="0"/>
          </a:p>
        </p:txBody>
      </p:sp>
      <p:sp>
        <p:nvSpPr>
          <p:cNvPr id="9" name="box_194"/>
          <p:cNvSpPr/>
          <p:nvPr/>
        </p:nvSpPr>
        <p:spPr>
          <a:xfrm>
            <a:off x="548640" y="3072384"/>
            <a:ext cx="29260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0" name="boxText_195"/>
          <p:cNvSpPr txBox="1"/>
          <p:nvPr/>
        </p:nvSpPr>
        <p:spPr>
          <a:xfrm>
            <a:off x="658368" y="307238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ペアの表現 ij</a:t>
            </a:r>
            <a:endParaRPr lang="en-US" sz="1400" dirty="0"/>
          </a:p>
        </p:txBody>
      </p:sp>
      <p:sp>
        <p:nvSpPr>
          <p:cNvPr id="11" name="box_196"/>
          <p:cNvSpPr/>
          <p:nvPr/>
        </p:nvSpPr>
        <p:spPr>
          <a:xfrm>
            <a:off x="548640" y="3639312"/>
            <a:ext cx="29260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2" name="boxText_197"/>
          <p:cNvSpPr txBox="1"/>
          <p:nvPr/>
        </p:nvSpPr>
        <p:spPr>
          <a:xfrm>
            <a:off x="658368" y="363931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ペアの表現 ji</a:t>
            </a:r>
            <a:endParaRPr lang="en-US" sz="1400" dirty="0"/>
          </a:p>
        </p:txBody>
      </p:sp>
      <p:sp>
        <p:nvSpPr>
          <p:cNvPr id="13" name="box_198"/>
          <p:cNvSpPr/>
          <p:nvPr/>
        </p:nvSpPr>
        <p:spPr>
          <a:xfrm>
            <a:off x="548640" y="4206240"/>
            <a:ext cx="29260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4" name="boxText_199"/>
          <p:cNvSpPr txBox="1"/>
          <p:nvPr/>
        </p:nvSpPr>
        <p:spPr>
          <a:xfrm>
            <a:off x="658368" y="420624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type の埋め込み</a:t>
            </a:r>
            <a:endParaRPr lang="en-US" sz="1400" dirty="0"/>
          </a:p>
        </p:txBody>
      </p:sp>
      <p:sp>
        <p:nvSpPr>
          <p:cNvPr id="15" name="arrow_200"/>
          <p:cNvSpPr/>
          <p:nvPr/>
        </p:nvSpPr>
        <p:spPr>
          <a:xfrm>
            <a:off x="3566160" y="2788920"/>
            <a:ext cx="54864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16" name="box_201"/>
          <p:cNvSpPr/>
          <p:nvPr/>
        </p:nvSpPr>
        <p:spPr>
          <a:xfrm>
            <a:off x="4206240" y="2331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F7A78"/>
          </a:solidFill>
          <a:ln w="12700">
            <a:solidFill>
              <a:srgbClr val="1F7A78"/>
            </a:solidFill>
            <a:prstDash val="solid"/>
          </a:ln>
        </p:spPr>
      </p:sp>
      <p:sp>
        <p:nvSpPr>
          <p:cNvPr id="17" name="boxText_202"/>
          <p:cNvSpPr txBox="1"/>
          <p:nvPr/>
        </p:nvSpPr>
        <p:spPr>
          <a:xfrm>
            <a:off x="4315968" y="23317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MLP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（2 層）</a:t>
            </a:r>
            <a:endParaRPr lang="en-US" sz="1600" dirty="0"/>
          </a:p>
        </p:txBody>
      </p:sp>
      <p:sp>
        <p:nvSpPr>
          <p:cNvPr id="18" name="arrow_203"/>
          <p:cNvSpPr/>
          <p:nvPr/>
        </p:nvSpPr>
        <p:spPr>
          <a:xfrm>
            <a:off x="6126480" y="2788920"/>
            <a:ext cx="54864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19" name="box_204"/>
          <p:cNvSpPr/>
          <p:nvPr/>
        </p:nvSpPr>
        <p:spPr>
          <a:xfrm>
            <a:off x="6766560" y="21488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17424A"/>
          </a:solidFill>
          <a:ln w="12700">
            <a:solidFill>
              <a:srgbClr val="17424A"/>
            </a:solidFill>
            <a:prstDash val="solid"/>
          </a:ln>
        </p:spPr>
      </p:sp>
      <p:sp>
        <p:nvSpPr>
          <p:cNvPr id="20" name="boxText_205"/>
          <p:cNvSpPr txBox="1"/>
          <p:nvPr/>
        </p:nvSpPr>
        <p:spPr>
          <a:xfrm>
            <a:off x="6876288" y="2148840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type 別に 4 成分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fc / sd / pso / dso</a:t>
            </a:r>
            <a:endParaRPr lang="en-US" sz="1500" dirty="0"/>
          </a:p>
        </p:txBody>
      </p:sp>
      <p:sp>
        <p:nvSpPr>
          <p:cNvPr id="21" name="arrow_206"/>
          <p:cNvSpPr/>
          <p:nvPr/>
        </p:nvSpPr>
        <p:spPr>
          <a:xfrm>
            <a:off x="9144000" y="2788920"/>
            <a:ext cx="548640" cy="0"/>
          </a:xfrm>
          <a:prstGeom prst="line">
            <a:avLst/>
          </a:prstGeom>
          <a:noFill/>
          <a:ln w="25400">
            <a:solidFill>
              <a:srgbClr val="1F7A78"/>
            </a:solidFill>
            <a:prstDash val="solid"/>
            <a:tailEnd type="triangle"/>
          </a:ln>
        </p:spPr>
      </p:sp>
      <p:sp>
        <p:nvSpPr>
          <p:cNvPr id="22" name="atom_207"/>
          <p:cNvSpPr/>
          <p:nvPr/>
        </p:nvSpPr>
        <p:spPr>
          <a:xfrm>
            <a:off x="9829800" y="2103120"/>
            <a:ext cx="1371600" cy="137160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23" name="atomLabel_208"/>
          <p:cNvSpPr txBox="1"/>
          <p:nvPr/>
        </p:nvSpPr>
        <p:spPr>
          <a:xfrm>
            <a:off x="982980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J</a:t>
            </a:r>
            <a:endParaRPr lang="en-US" sz="4000" dirty="0"/>
          </a:p>
        </p:txBody>
      </p:sp>
      <p:sp>
        <p:nvSpPr>
          <p:cNvPr id="24" name="text_209"/>
          <p:cNvSpPr txBox="1"/>
          <p:nvPr/>
        </p:nvSpPr>
        <p:spPr>
          <a:xfrm>
            <a:off x="964692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DA8"/>
                </a:solidFill>
              </a:rPr>
              <a:t>4 成分の合計</a:t>
            </a:r>
            <a:endParaRPr lang="en-US" sz="1300" dirty="0"/>
          </a:p>
        </p:txBody>
      </p:sp>
      <p:sp>
        <p:nvSpPr>
          <p:cNvPr id="25" name="card_210"/>
          <p:cNvSpPr/>
          <p:nvPr/>
        </p:nvSpPr>
        <p:spPr>
          <a:xfrm>
            <a:off x="4206240" y="4572000"/>
            <a:ext cx="74368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text_211"/>
          <p:cNvSpPr txBox="1"/>
          <p:nvPr/>
        </p:nvSpPr>
        <p:spPr>
          <a:xfrm>
            <a:off x="4434840" y="4709160"/>
            <a:ext cx="6979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(i, j) と (j, i) の平均 → 入れ替えに対して対称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出力は type ごとの平均・標準偏差でスケールを合わせる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損失は type 別 log(MAE) の平均（指標そのもの）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AdamW、学習率は本体 1e-4 / 出力部分 1e-3、cosine、bf16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Uni-Mol の動かし方</a:t>
            </a:r>
            <a:endParaRPr lang="en-US" sz="3200" dirty="0"/>
          </a:p>
        </p:txBody>
      </p:sp>
      <p:sp>
        <p:nvSpPr>
          <p:cNvPr id="3" name="atom_212"/>
          <p:cNvSpPr/>
          <p:nvPr/>
        </p:nvSpPr>
        <p:spPr>
          <a:xfrm>
            <a:off x="548640" y="1371600"/>
            <a:ext cx="530352" cy="530352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4" name="atomLabel_213"/>
          <p:cNvSpPr txBox="1"/>
          <p:nvPr/>
        </p:nvSpPr>
        <p:spPr>
          <a:xfrm>
            <a:off x="548640" y="1371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bond_214"/>
          <p:cNvSpPr/>
          <p:nvPr/>
        </p:nvSpPr>
        <p:spPr>
          <a:xfrm>
            <a:off x="813816" y="1901952"/>
            <a:ext cx="0" cy="676656"/>
          </a:xfrm>
          <a:prstGeom prst="line">
            <a:avLst/>
          </a:prstGeom>
          <a:noFill/>
          <a:ln w="25400">
            <a:solidFill>
              <a:srgbClr val="9DB9B0"/>
            </a:solidFill>
            <a:prstDash val="solid"/>
          </a:ln>
        </p:spPr>
      </p:sp>
      <p:sp>
        <p:nvSpPr>
          <p:cNvPr id="6" name="text_215"/>
          <p:cNvSpPr txBox="1"/>
          <p:nvPr/>
        </p:nvSpPr>
        <p:spPr>
          <a:xfrm>
            <a:off x="1280160" y="1353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重みを取ってくる</a:t>
            </a:r>
            <a:endParaRPr lang="en-US" sz="1700" dirty="0"/>
          </a:p>
        </p:txBody>
      </p:sp>
      <p:sp>
        <p:nvSpPr>
          <p:cNvPr id="7" name="text_216"/>
          <p:cNvSpPr txBox="1"/>
          <p:nvPr/>
        </p:nvSpPr>
        <p:spPr>
          <a:xfrm>
            <a:off x="1280160" y="170078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Hugging Face の dptech/Uni-Mol-Models から mol_pre_all_h_220816.pt（水素込み）と mol.dict.txt</a:t>
            </a:r>
            <a:endParaRPr lang="en-US" sz="1300" dirty="0"/>
          </a:p>
        </p:txBody>
      </p:sp>
      <p:sp>
        <p:nvSpPr>
          <p:cNvPr id="8" name="atom_217"/>
          <p:cNvSpPr/>
          <p:nvPr/>
        </p:nvSpPr>
        <p:spPr>
          <a:xfrm>
            <a:off x="548640" y="2578608"/>
            <a:ext cx="530352" cy="530352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9" name="atomLabel_218"/>
          <p:cNvSpPr txBox="1"/>
          <p:nvPr/>
        </p:nvSpPr>
        <p:spPr>
          <a:xfrm>
            <a:off x="548640" y="2578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bond_219"/>
          <p:cNvSpPr/>
          <p:nvPr/>
        </p:nvSpPr>
        <p:spPr>
          <a:xfrm>
            <a:off x="813816" y="3108960"/>
            <a:ext cx="0" cy="676656"/>
          </a:xfrm>
          <a:prstGeom prst="line">
            <a:avLst/>
          </a:prstGeom>
          <a:noFill/>
          <a:ln w="25400">
            <a:solidFill>
              <a:srgbClr val="9DB9B0"/>
            </a:solidFill>
            <a:prstDash val="solid"/>
          </a:ln>
        </p:spPr>
      </p:sp>
      <p:sp>
        <p:nvSpPr>
          <p:cNvPr id="11" name="text_220"/>
          <p:cNvSpPr txBox="1"/>
          <p:nvPr/>
        </p:nvSpPr>
        <p:spPr>
          <a:xfrm>
            <a:off x="1280160" y="25603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入力を作る</a:t>
            </a:r>
            <a:endParaRPr lang="en-US" sz="1700" dirty="0"/>
          </a:p>
        </p:txBody>
      </p:sp>
      <p:sp>
        <p:nvSpPr>
          <p:cNvPr id="12" name="text_221"/>
          <p:cNvSpPr txBox="1"/>
          <p:nvPr/>
        </p:nvSpPr>
        <p:spPr>
          <a:xfrm>
            <a:off x="1280160" y="29077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[CLS] 原子… [SEP] の並び、座標は重心を原点に。語彙はファイルの行順（[PAD]=0, [CLS]=1, [SEP]=2, C=4, H=8 …）</a:t>
            </a:r>
            <a:endParaRPr lang="en-US" sz="1300" dirty="0"/>
          </a:p>
        </p:txBody>
      </p:sp>
      <p:sp>
        <p:nvSpPr>
          <p:cNvPr id="13" name="atom_222"/>
          <p:cNvSpPr/>
          <p:nvPr/>
        </p:nvSpPr>
        <p:spPr>
          <a:xfrm>
            <a:off x="548640" y="3785616"/>
            <a:ext cx="530352" cy="530352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4" name="atomLabel_223"/>
          <p:cNvSpPr txBox="1"/>
          <p:nvPr/>
        </p:nvSpPr>
        <p:spPr>
          <a:xfrm>
            <a:off x="548640" y="37856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bond_224"/>
          <p:cNvSpPr/>
          <p:nvPr/>
        </p:nvSpPr>
        <p:spPr>
          <a:xfrm>
            <a:off x="813816" y="4315968"/>
            <a:ext cx="0" cy="676656"/>
          </a:xfrm>
          <a:prstGeom prst="line">
            <a:avLst/>
          </a:prstGeom>
          <a:noFill/>
          <a:ln w="25400">
            <a:solidFill>
              <a:srgbClr val="9DB9B0"/>
            </a:solidFill>
            <a:prstDash val="solid"/>
          </a:ln>
        </p:spPr>
      </p:sp>
      <p:sp>
        <p:nvSpPr>
          <p:cNvPr id="16" name="text_225"/>
          <p:cNvSpPr txBox="1"/>
          <p:nvPr/>
        </p:nvSpPr>
        <p:spPr>
          <a:xfrm>
            <a:off x="1280160" y="37673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読み込めたか確かめる</a:t>
            </a:r>
            <a:endParaRPr lang="en-US" sz="1700" dirty="0"/>
          </a:p>
        </p:txBody>
      </p:sp>
      <p:sp>
        <p:nvSpPr>
          <p:cNvPr id="17" name="text_226"/>
          <p:cNvSpPr txBox="1"/>
          <p:nvPr/>
        </p:nvSpPr>
        <p:spPr>
          <a:xfrm>
            <a:off x="1280160" y="41148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事前学習の距離予測部分で原子間距離を再現 → 誤差 0.05Å（最初は 0.98Å：使う表現と単位を取り違えていた）</a:t>
            </a:r>
            <a:endParaRPr lang="en-US" sz="1300" dirty="0"/>
          </a:p>
        </p:txBody>
      </p:sp>
      <p:sp>
        <p:nvSpPr>
          <p:cNvPr id="18" name="atom_227"/>
          <p:cNvSpPr/>
          <p:nvPr/>
        </p:nvSpPr>
        <p:spPr>
          <a:xfrm>
            <a:off x="548640" y="4992624"/>
            <a:ext cx="530352" cy="530352"/>
          </a:xfrm>
          <a:prstGeom prst="ellipse">
            <a:avLst/>
          </a:prstGeom>
          <a:solidFill>
            <a:srgbClr val="1F7A78"/>
          </a:solidFill>
          <a:ln w="9525">
            <a:solidFill>
              <a:srgbClr val="1F7A78"/>
            </a:solidFill>
            <a:prstDash val="solid"/>
          </a:ln>
        </p:spPr>
      </p:sp>
      <p:sp>
        <p:nvSpPr>
          <p:cNvPr id="19" name="atomLabel_228"/>
          <p:cNvSpPr txBox="1"/>
          <p:nvPr/>
        </p:nvSpPr>
        <p:spPr>
          <a:xfrm>
            <a:off x="548640" y="49926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_229"/>
          <p:cNvSpPr txBox="1"/>
          <p:nvPr/>
        </p:nvSpPr>
        <p:spPr>
          <a:xfrm>
            <a:off x="1280160" y="497433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 を出す部分を付けて fine-tune</a:t>
            </a:r>
            <a:endParaRPr lang="en-US" sz="1700" dirty="0"/>
          </a:p>
        </p:txBody>
      </p:sp>
      <p:sp>
        <p:nvSpPr>
          <p:cNvPr id="21" name="text_230"/>
          <p:cNvSpPr txBox="1"/>
          <p:nvPr/>
        </p:nvSpPr>
        <p:spPr>
          <a:xfrm>
            <a:off x="1280160" y="532180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手元の Mac で数百分子だけ動作確認 → VS Code の Colab 拡張で A100（1 エポック約 1.1 分）</a:t>
            </a:r>
            <a:endParaRPr lang="en-US" sz="1300" dirty="0"/>
          </a:p>
        </p:txBody>
      </p:sp>
      <p:sp>
        <p:nvSpPr>
          <p:cNvPr id="22" name="card_231"/>
          <p:cNvSpPr/>
          <p:nvPr/>
        </p:nvSpPr>
        <p:spPr>
          <a:xfrm>
            <a:off x="7498080" y="1325880"/>
            <a:ext cx="4142232" cy="4800600"/>
          </a:xfrm>
          <a:prstGeom prst="roundRect">
            <a:avLst>
              <a:gd name="adj" fmla="val 264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3" name="text_232"/>
          <p:cNvSpPr txBox="1"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</a:rPr>
              <a:t>重みの読み込み（要点）</a:t>
            </a:r>
            <a:endParaRPr lang="en-US" sz="1500" dirty="0"/>
          </a:p>
        </p:txBody>
      </p:sp>
      <p:sp>
        <p:nvSpPr>
          <p:cNvPr id="24" name="text_233"/>
          <p:cNvSpPr txBox="1"/>
          <p:nvPr/>
        </p:nvSpPr>
        <p:spPr>
          <a:xfrm>
            <a:off x="7772400" y="19659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torch.load(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'mol_pre_all_h_220816.pt',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weights_only=True)['model']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backbone = UniMolBackbone()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backbone.load_state_dict(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state, strict=False)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B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読み込めない重み: なし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B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使わない部分: lm_head,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B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dist_head, pair2coord_proj</a:t>
            </a:r>
            <a:endParaRPr lang="en-US" sz="1300" dirty="0"/>
          </a:p>
        </p:txBody>
      </p:sp>
      <p:sp>
        <p:nvSpPr>
          <p:cNvPr id="25" name="text_234"/>
          <p:cNvSpPr txBox="1"/>
          <p:nvPr/>
        </p:nvSpPr>
        <p:spPr>
          <a:xfrm>
            <a:off x="777240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B9B0"/>
                </a:solidFill>
              </a:rPr>
              <a:t>約 4,700 万パラメータ、学習率は本体 1e-4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学習した 2 つのモデル</a:t>
            </a:r>
            <a:endParaRPr lang="en-US" sz="3200" dirty="0"/>
          </a:p>
        </p:txBody>
      </p:sp>
      <p:graphicFrame>
        <p:nvGraphicFramePr>
          <p:cNvPr id="16" name="table_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52422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基本の設定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覚え込み対策あり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424A"/>
                          </a:solidFill>
                        </a:rPr>
                        <a:t>ねらい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まずは素直に fine-tune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覚え込み（学習と検証の差）を抑える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424A"/>
                          </a:solidFill>
                        </a:rPr>
                        <a:t>dropout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なし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0.1（事前学習のときと同じ）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424A"/>
                          </a:solidFill>
                        </a:rPr>
                        <a:t>何を当てるか（損失）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J だけ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J ＋ 4 成分（fc / sd / pso / dso）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424A"/>
                          </a:solidFill>
                        </a:rPr>
                        <a:t>学習（A100）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60 エポック・約 1 時間 10 分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60 エポック・約 1 時間 20 分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424A"/>
                          </a:solidFill>
                        </a:rPr>
                        <a:t>検証 score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-2.385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-2.159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</a:tr>
            </a:tbl>
          </a:graphicData>
        </a:graphic>
      </p:graphicFrame>
      <p:sp>
        <p:nvSpPr>
          <p:cNvPr id="4" name="card_236"/>
          <p:cNvSpPr/>
          <p:nvPr/>
        </p:nvSpPr>
        <p:spPr>
          <a:xfrm>
            <a:off x="548640" y="4434840"/>
            <a:ext cx="536432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atom_237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5B7DA8"/>
          </a:solidFill>
          <a:ln w="9525">
            <a:solidFill>
              <a:srgbClr val="5B7DA8"/>
            </a:solidFill>
            <a:prstDash val="solid"/>
          </a:ln>
        </p:spPr>
      </p:sp>
      <p:sp>
        <p:nvSpPr>
          <p:cNvPr id="6" name="atomLabel_238"/>
          <p:cNvSpPr txBox="1"/>
          <p:nvPr/>
        </p:nvSpPr>
        <p:spPr>
          <a:xfrm>
            <a:off x="822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7" name="text_239"/>
          <p:cNvSpPr txBox="1"/>
          <p:nvPr/>
        </p:nvSpPr>
        <p:spPr>
          <a:xfrm>
            <a:off x="1508760" y="4663440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dropout とは</a:t>
            </a:r>
            <a:endParaRPr lang="en-US" sz="1700" dirty="0"/>
          </a:p>
        </p:txBody>
      </p:sp>
      <p:sp>
        <p:nvSpPr>
          <p:cNvPr id="8" name="text_240"/>
          <p:cNvSpPr txBox="1"/>
          <p:nvPr/>
        </p:nvSpPr>
        <p:spPr>
          <a:xfrm>
            <a:off x="1508760" y="507492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学習中に、ランダムに一部のつながりを切る。特定のデータを丸暗記しにくくなる</a:t>
            </a:r>
            <a:endParaRPr lang="en-US" sz="1400" dirty="0"/>
          </a:p>
        </p:txBody>
      </p:sp>
      <p:sp>
        <p:nvSpPr>
          <p:cNvPr id="9" name="card_241"/>
          <p:cNvSpPr/>
          <p:nvPr/>
        </p:nvSpPr>
        <p:spPr>
          <a:xfrm>
            <a:off x="6278728" y="4434840"/>
            <a:ext cx="536432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atom_242"/>
          <p:cNvSpPr/>
          <p:nvPr/>
        </p:nvSpPr>
        <p:spPr>
          <a:xfrm>
            <a:off x="6553048" y="4663440"/>
            <a:ext cx="502920" cy="502920"/>
          </a:xfrm>
          <a:prstGeom prst="ellipse">
            <a:avLst/>
          </a:prstGeom>
          <a:solidFill>
            <a:srgbClr val="5B7DA8"/>
          </a:solidFill>
          <a:ln w="9525">
            <a:solidFill>
              <a:srgbClr val="5B7DA8"/>
            </a:solidFill>
            <a:prstDash val="solid"/>
          </a:ln>
        </p:spPr>
      </p:sp>
      <p:sp>
        <p:nvSpPr>
          <p:cNvPr id="11" name="atomLabel_243"/>
          <p:cNvSpPr txBox="1"/>
          <p:nvPr/>
        </p:nvSpPr>
        <p:spPr>
          <a:xfrm>
            <a:off x="6553048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12" name="text_244"/>
          <p:cNvSpPr txBox="1"/>
          <p:nvPr/>
        </p:nvSpPr>
        <p:spPr>
          <a:xfrm>
            <a:off x="7238848" y="4663440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成分の補助損失とは</a:t>
            </a:r>
            <a:endParaRPr lang="en-US" sz="1700" dirty="0"/>
          </a:p>
        </p:txBody>
      </p:sp>
      <p:sp>
        <p:nvSpPr>
          <p:cNvPr id="13" name="text_245"/>
          <p:cNvSpPr txBox="1"/>
          <p:nvPr/>
        </p:nvSpPr>
        <p:spPr>
          <a:xfrm>
            <a:off x="7238848" y="507492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 だけでなく、J の内訳 fc / sd / pso / dso も一緒に当てさせる。3 位チームで効いた方法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結果：2 本の平均で -2.42</a:t>
            </a:r>
            <a:endParaRPr lang="en-US" sz="3200" dirty="0"/>
          </a:p>
        </p:txBody>
      </p:sp>
      <p:graphicFrame>
        <p:nvGraphicFramePr>
          <p:cNvPr id="3" name="chart_246" descr=""/>
          <p:cNvGraphicFramePr/>
          <p:nvPr/>
        </p:nvGraphicFramePr>
        <p:xfrm>
          <a:off x="548640" y="13258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_247"/>
          <p:cNvSpPr/>
          <p:nvPr/>
        </p:nvSpPr>
        <p:spPr>
          <a:xfrm>
            <a:off x="7863840" y="1325880"/>
            <a:ext cx="37764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_248"/>
          <p:cNvSpPr txBox="1"/>
          <p:nvPr/>
        </p:nvSpPr>
        <p:spPr>
          <a:xfrm>
            <a:off x="8092440" y="13258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-2.372</a:t>
            </a:r>
            <a:endParaRPr lang="en-US" sz="2600" dirty="0"/>
          </a:p>
        </p:txBody>
      </p:sp>
      <p:sp>
        <p:nvSpPr>
          <p:cNvPr id="6" name="text_249"/>
          <p:cNvSpPr txBox="1"/>
          <p:nvPr/>
        </p:nvSpPr>
        <p:spPr>
          <a:xfrm>
            <a:off x="9601200" y="13258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基本の設定（Private）</a:t>
            </a:r>
            <a:endParaRPr lang="en-US" sz="1300" dirty="0"/>
          </a:p>
        </p:txBody>
      </p:sp>
      <p:sp>
        <p:nvSpPr>
          <p:cNvPr id="7" name="card_250"/>
          <p:cNvSpPr/>
          <p:nvPr/>
        </p:nvSpPr>
        <p:spPr>
          <a:xfrm>
            <a:off x="7863840" y="2350008"/>
            <a:ext cx="37764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_251"/>
          <p:cNvSpPr txBox="1"/>
          <p:nvPr/>
        </p:nvSpPr>
        <p:spPr>
          <a:xfrm>
            <a:off x="8092440" y="235000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-2.159</a:t>
            </a:r>
            <a:endParaRPr lang="en-US" sz="2600" dirty="0"/>
          </a:p>
        </p:txBody>
      </p:sp>
      <p:sp>
        <p:nvSpPr>
          <p:cNvPr id="9" name="text_252"/>
          <p:cNvSpPr txBox="1"/>
          <p:nvPr/>
        </p:nvSpPr>
        <p:spPr>
          <a:xfrm>
            <a:off x="9601200" y="2350008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覚え込み対策あり（検証）</a:t>
            </a:r>
            <a:endParaRPr lang="en-US" sz="1300" dirty="0"/>
          </a:p>
        </p:txBody>
      </p:sp>
      <p:sp>
        <p:nvSpPr>
          <p:cNvPr id="10" name="card_253"/>
          <p:cNvSpPr/>
          <p:nvPr/>
        </p:nvSpPr>
        <p:spPr>
          <a:xfrm>
            <a:off x="7863840" y="3374136"/>
            <a:ext cx="37764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text_254"/>
          <p:cNvSpPr txBox="1"/>
          <p:nvPr/>
        </p:nvSpPr>
        <p:spPr>
          <a:xfrm>
            <a:off x="8092440" y="3374136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14E"/>
                </a:solidFill>
              </a:rPr>
              <a:t>-2.424</a:t>
            </a:r>
            <a:endParaRPr lang="en-US" sz="2600" dirty="0"/>
          </a:p>
        </p:txBody>
      </p:sp>
      <p:sp>
        <p:nvSpPr>
          <p:cNvPr id="12" name="text_255"/>
          <p:cNvSpPr txBox="1"/>
          <p:nvPr/>
        </p:nvSpPr>
        <p:spPr>
          <a:xfrm>
            <a:off x="9601200" y="337413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 つを 7:3 で平均（Private）</a:t>
            </a:r>
            <a:endParaRPr lang="en-US" sz="1300" dirty="0"/>
          </a:p>
        </p:txBody>
      </p:sp>
      <p:sp>
        <p:nvSpPr>
          <p:cNvPr id="13" name="text_256"/>
          <p:cNvSpPr txBox="1"/>
          <p:nvPr/>
        </p:nvSpPr>
        <p:spPr>
          <a:xfrm>
            <a:off x="7863840" y="4526280"/>
            <a:ext cx="3776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検証と LB がほぼ一致（基本の設定：検証 -2.385 / Private -2.372）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覚え込み対策ありは単体では全 type で悪化。でも混ぜると +0.05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平均の重みは検証で決めた（7:3 が最良）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振り返りと次の一手</a:t>
            </a:r>
            <a:endParaRPr lang="en-US" sz="3200" dirty="0"/>
          </a:p>
        </p:txBody>
      </p:sp>
      <p:sp>
        <p:nvSpPr>
          <p:cNvPr id="3" name="text_257"/>
          <p:cNvSpPr txBox="1"/>
          <p:nvPr/>
        </p:nvSpPr>
        <p:spPr>
          <a:xfrm>
            <a:off x="548640" y="13716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</a:rPr>
              <a:t>分かったこと</a:t>
            </a:r>
            <a:endParaRPr lang="en-US" sz="2000" dirty="0"/>
          </a:p>
        </p:txBody>
      </p:sp>
      <p:sp>
        <p:nvSpPr>
          <p:cNvPr id="4" name="text_258"/>
          <p:cNvSpPr txBox="1"/>
          <p:nvPr/>
        </p:nvSpPr>
        <p:spPr>
          <a:xfrm>
            <a:off x="548640" y="1920240"/>
            <a:ext cx="53643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事前学習モデルの fine-tune で、LightGBM の上限（-2.0〜-2.1）を超えて銀メダル圏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基本の設定は学習と検証の差が拡大（学習 -3.42 / 検証 -2.39）＝ 覚え込み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覚え込み対策は 60 エポックでは逆効果。ただし混ぜると効く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1JHC・1JHN・3JHC が弱い（値の幅が大きい type）</a:t>
            </a:r>
            <a:endParaRPr lang="en-US" sz="1600" dirty="0"/>
          </a:p>
        </p:txBody>
      </p:sp>
      <p:sp>
        <p:nvSpPr>
          <p:cNvPr id="5" name="text_259"/>
          <p:cNvSpPr txBox="1"/>
          <p:nvPr/>
        </p:nvSpPr>
        <p:spPr>
          <a:xfrm>
            <a:off x="6278728" y="13716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</a:rPr>
              <a:t>次の一手</a:t>
            </a:r>
            <a:endParaRPr lang="en-US" sz="2000" dirty="0"/>
          </a:p>
        </p:txBody>
      </p:sp>
      <p:sp>
        <p:nvSpPr>
          <p:cNvPr id="6" name="atom_260"/>
          <p:cNvSpPr/>
          <p:nvPr/>
        </p:nvSpPr>
        <p:spPr>
          <a:xfrm>
            <a:off x="6278728" y="1920240"/>
            <a:ext cx="502920" cy="50292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7" name="atomLabel_261"/>
          <p:cNvSpPr txBox="1"/>
          <p:nvPr/>
        </p:nvSpPr>
        <p:spPr>
          <a:xfrm>
            <a:off x="627872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_262"/>
          <p:cNvSpPr txBox="1"/>
          <p:nvPr/>
        </p:nvSpPr>
        <p:spPr>
          <a:xfrm>
            <a:off x="6964528" y="190195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覚え込み対策ありで、エポックを増やす</a:t>
            </a:r>
            <a:endParaRPr lang="en-US" sz="1700" dirty="0"/>
          </a:p>
        </p:txBody>
      </p:sp>
      <p:sp>
        <p:nvSpPr>
          <p:cNvPr id="9" name="text_263"/>
          <p:cNvSpPr txBox="1"/>
          <p:nvPr/>
        </p:nvSpPr>
        <p:spPr>
          <a:xfrm>
            <a:off x="6964528" y="228600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DB9B0"/>
                </a:solidFill>
              </a:rPr>
              <a:t>dropout と補助損失は学習が遅くなる。どちらが効くかも切り分ける</a:t>
            </a:r>
            <a:endParaRPr lang="en-US" sz="1400" dirty="0"/>
          </a:p>
        </p:txBody>
      </p:sp>
      <p:sp>
        <p:nvSpPr>
          <p:cNvPr id="10" name="atom_264"/>
          <p:cNvSpPr/>
          <p:nvPr/>
        </p:nvSpPr>
        <p:spPr>
          <a:xfrm>
            <a:off x="6278728" y="2971800"/>
            <a:ext cx="502920" cy="50292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1" name="atomLabel_265"/>
          <p:cNvSpPr txBox="1"/>
          <p:nvPr/>
        </p:nvSpPr>
        <p:spPr>
          <a:xfrm>
            <a:off x="627872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_266"/>
          <p:cNvSpPr txBox="1"/>
          <p:nvPr/>
        </p:nvSpPr>
        <p:spPr>
          <a:xfrm>
            <a:off x="6964528" y="295351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シード違いのモデルを増やして平均</a:t>
            </a:r>
            <a:endParaRPr lang="en-US" sz="1700" dirty="0"/>
          </a:p>
        </p:txBody>
      </p:sp>
      <p:sp>
        <p:nvSpPr>
          <p:cNvPr id="13" name="text_267"/>
          <p:cNvSpPr txBox="1"/>
          <p:nvPr/>
        </p:nvSpPr>
        <p:spPr>
          <a:xfrm>
            <a:off x="6964528" y="333756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DB9B0"/>
                </a:solidFill>
              </a:rPr>
              <a:t>2 本の平均で +0.05。本数を増やす</a:t>
            </a:r>
            <a:endParaRPr lang="en-US" sz="1400" dirty="0"/>
          </a:p>
        </p:txBody>
      </p:sp>
      <p:sp>
        <p:nvSpPr>
          <p:cNvPr id="14" name="atom_268"/>
          <p:cNvSpPr/>
          <p:nvPr/>
        </p:nvSpPr>
        <p:spPr>
          <a:xfrm>
            <a:off x="6278728" y="4023360"/>
            <a:ext cx="502920" cy="502920"/>
          </a:xfrm>
          <a:prstGeom prst="ellipse">
            <a:avLst/>
          </a:prstGeom>
          <a:solidFill>
            <a:srgbClr val="E8833A"/>
          </a:solidFill>
          <a:ln w="9525">
            <a:solidFill>
              <a:srgbClr val="E8833A"/>
            </a:solidFill>
            <a:prstDash val="solid"/>
          </a:ln>
        </p:spPr>
      </p:sp>
      <p:sp>
        <p:nvSpPr>
          <p:cNvPr id="15" name="atomLabel_269"/>
          <p:cNvSpPr txBox="1"/>
          <p:nvPr/>
        </p:nvSpPr>
        <p:spPr>
          <a:xfrm>
            <a:off x="627872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_270"/>
          <p:cNvSpPr txBox="1"/>
          <p:nvPr/>
        </p:nvSpPr>
        <p:spPr>
          <a:xfrm>
            <a:off x="6964528" y="400507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弱い type だけ追加で fine-tune</a:t>
            </a:r>
            <a:endParaRPr lang="en-US" sz="1700" dirty="0"/>
          </a:p>
        </p:txBody>
      </p:sp>
      <p:sp>
        <p:nvSpPr>
          <p:cNvPr id="17" name="text_271"/>
          <p:cNvSpPr txBox="1"/>
          <p:nvPr/>
        </p:nvSpPr>
        <p:spPr>
          <a:xfrm>
            <a:off x="6964528" y="43891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DB9B0"/>
                </a:solidFill>
              </a:rPr>
              <a:t>2・3・4 位の方式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9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MPS Uni-Mol">
  <a:themeElements>
    <a:clrScheme name="CHAMPS Uni-Mol">
      <a:dk1>
        <a:srgbClr val="1B2A2F"/>
      </a:dk1>
      <a:lt1>
        <a:srgbClr val="FFFFFF"/>
      </a:lt1>
      <a:dk2>
        <a:srgbClr val="17424A"/>
      </a:dk2>
      <a:lt2>
        <a:srgbClr val="EAF2F1"/>
      </a:lt2>
      <a:accent1>
        <a:srgbClr val="1F7A78"/>
      </a:accent1>
      <a:accent2>
        <a:srgbClr val="E8833A"/>
      </a:accent2>
      <a:accent3>
        <a:srgbClr val="5B7DA8"/>
      </a:accent3>
      <a:accent4>
        <a:srgbClr val="B5446E"/>
      </a:accent4>
      <a:accent5>
        <a:srgbClr val="9DB9B0"/>
      </a:accent5>
      <a:accent6>
        <a:srgbClr val="F2C14E"/>
      </a:accent6>
      <a:hlink>
        <a:srgbClr val="1F7A78"/>
      </a:hlink>
      <a:folHlink>
        <a:srgbClr val="5B7DA8"/>
      </a:folHlink>
    </a:clrScheme>
    <a:fontScheme name="CHAMPS Uni-Mol">
      <a:majorFont>
        <a:latin typeface="Yu Gothic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CHAMPS Scalar Coupling に Uni-Mol で挑んでみた</dc:title>
  <dc:subject>Kaggle Predicting Molecular Properties の振り返り（勉強会）</dc:subject>
  <dc:creator>PptxGenJS</dc:creator>
  <cp:lastModifiedBy>PptxGenJS</cp:lastModifiedBy>
  <cp:revision>1</cp:revision>
  <dcterms:created xsi:type="dcterms:W3CDTF">2026-10-25T14:07:31Z</dcterms:created>
  <dcterms:modified xsi:type="dcterms:W3CDTF">2026-10-25T14:07:31Z</dcterms:modified>
</cp:coreProperties>
</file>